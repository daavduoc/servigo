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Arimo" panose="020B0604020202020204" charset="0"/>
      <p:regular r:id="rId20"/>
    </p:embeddedFont>
    <p:embeddedFont>
      <p:font typeface="Gotham" panose="020B0604020202020204" charset="0"/>
      <p:regular r:id="rId21"/>
    </p:embeddedFont>
    <p:embeddedFont>
      <p:font typeface="Gotham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svg"/><Relationship Id="rId18" Type="http://schemas.openxmlformats.org/officeDocument/2006/relationships/image" Target="../media/image36.svg"/><Relationship Id="rId3" Type="http://schemas.openxmlformats.org/officeDocument/2006/relationships/image" Target="../media/image11.png"/><Relationship Id="rId21" Type="http://schemas.openxmlformats.org/officeDocument/2006/relationships/image" Target="../media/image39.svg"/><Relationship Id="rId7" Type="http://schemas.openxmlformats.org/officeDocument/2006/relationships/image" Target="../media/image25.svg"/><Relationship Id="rId12" Type="http://schemas.openxmlformats.org/officeDocument/2006/relationships/image" Target="../media/image30.svg"/><Relationship Id="rId17" Type="http://schemas.openxmlformats.org/officeDocument/2006/relationships/image" Target="../media/image35.svg"/><Relationship Id="rId2" Type="http://schemas.openxmlformats.org/officeDocument/2006/relationships/image" Target="../media/image21.svg"/><Relationship Id="rId16" Type="http://schemas.openxmlformats.org/officeDocument/2006/relationships/image" Target="../media/image34.svg"/><Relationship Id="rId20" Type="http://schemas.openxmlformats.org/officeDocument/2006/relationships/image" Target="../media/image3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5" Type="http://schemas.openxmlformats.org/officeDocument/2006/relationships/image" Target="../media/image33.svg"/><Relationship Id="rId10" Type="http://schemas.openxmlformats.org/officeDocument/2006/relationships/image" Target="../media/image28.svg"/><Relationship Id="rId19" Type="http://schemas.openxmlformats.org/officeDocument/2006/relationships/image" Target="../media/image37.svg"/><Relationship Id="rId4" Type="http://schemas.openxmlformats.org/officeDocument/2006/relationships/image" Target="../media/image22.svg"/><Relationship Id="rId9" Type="http://schemas.openxmlformats.org/officeDocument/2006/relationships/image" Target="../media/image27.svg"/><Relationship Id="rId14" Type="http://schemas.openxmlformats.org/officeDocument/2006/relationships/image" Target="../media/image32.svg"/><Relationship Id="rId22" Type="http://schemas.openxmlformats.org/officeDocument/2006/relationships/image" Target="../media/image4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svg"/><Relationship Id="rId4" Type="http://schemas.openxmlformats.org/officeDocument/2006/relationships/image" Target="../media/image4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5.svg"/><Relationship Id="rId7" Type="http://schemas.openxmlformats.org/officeDocument/2006/relationships/image" Target="../media/image47.png"/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12.svg"/><Relationship Id="rId10" Type="http://schemas.openxmlformats.org/officeDocument/2006/relationships/image" Target="../media/image50.png"/><Relationship Id="rId4" Type="http://schemas.openxmlformats.org/officeDocument/2006/relationships/image" Target="../media/image11.png"/><Relationship Id="rId9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12.svg"/><Relationship Id="rId7" Type="http://schemas.openxmlformats.org/officeDocument/2006/relationships/image" Target="../media/image55.svg"/><Relationship Id="rId12" Type="http://schemas.openxmlformats.org/officeDocument/2006/relationships/image" Target="../media/image60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svg"/><Relationship Id="rId11" Type="http://schemas.openxmlformats.org/officeDocument/2006/relationships/image" Target="../media/image59.svg"/><Relationship Id="rId5" Type="http://schemas.openxmlformats.org/officeDocument/2006/relationships/image" Target="../media/image53.svg"/><Relationship Id="rId10" Type="http://schemas.openxmlformats.org/officeDocument/2006/relationships/image" Target="../media/image58.svg"/><Relationship Id="rId4" Type="http://schemas.openxmlformats.org/officeDocument/2006/relationships/image" Target="../media/image52.svg"/><Relationship Id="rId9" Type="http://schemas.openxmlformats.org/officeDocument/2006/relationships/image" Target="../media/image5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script.google.com/macros/s/AKfycby_x6z7wHsbcUBfSYMNsURPtx1n0RziQc-YQu5ZP8ApDc1_o-_7XC6WoxSTsH7m_XH8/exec" TargetMode="External"/><Relationship Id="rId4" Type="http://schemas.openxmlformats.org/officeDocument/2006/relationships/hyperlink" Target="https://script.google.com/a/macros/duocuc.cl/s/AKfycby_x6z7wHsbcUBfSYMNsURPtx1n0RziQc-YQu5ZP8ApDc1_o-_7XC6WoxSTsH7m_XH8/exec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12.sv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svg"/><Relationship Id="rId11" Type="http://schemas.openxmlformats.org/officeDocument/2006/relationships/image" Target="../media/image69.png"/><Relationship Id="rId5" Type="http://schemas.openxmlformats.org/officeDocument/2006/relationships/image" Target="../media/image63.svg"/><Relationship Id="rId10" Type="http://schemas.openxmlformats.org/officeDocument/2006/relationships/image" Target="../media/image68.png"/><Relationship Id="rId4" Type="http://schemas.openxmlformats.org/officeDocument/2006/relationships/image" Target="../media/image62.svg"/><Relationship Id="rId9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frontend-servigo.vercel.app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45.svg"/><Relationship Id="rId7" Type="http://schemas.openxmlformats.org/officeDocument/2006/relationships/image" Target="../media/image76.png"/><Relationship Id="rId12" Type="http://schemas.openxmlformats.org/officeDocument/2006/relationships/image" Target="../media/image27.svg"/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image" Target="../media/image26.svg"/><Relationship Id="rId5" Type="http://schemas.openxmlformats.org/officeDocument/2006/relationships/image" Target="../media/image75.png"/><Relationship Id="rId10" Type="http://schemas.openxmlformats.org/officeDocument/2006/relationships/image" Target="../media/image25.svg"/><Relationship Id="rId4" Type="http://schemas.openxmlformats.org/officeDocument/2006/relationships/image" Target="../media/image74.svg"/><Relationship Id="rId9" Type="http://schemas.openxmlformats.org/officeDocument/2006/relationships/image" Target="../media/image2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92242" y="-1711850"/>
            <a:ext cx="8390090" cy="8032448"/>
            <a:chOff x="0" y="0"/>
            <a:chExt cx="903868" cy="8653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3868" cy="865339"/>
            </a:xfrm>
            <a:custGeom>
              <a:avLst/>
              <a:gdLst/>
              <a:ahLst/>
              <a:cxnLst/>
              <a:rect l="l" t="t" r="r" b="b"/>
              <a:pathLst>
                <a:path w="903868" h="865339">
                  <a:moveTo>
                    <a:pt x="451934" y="0"/>
                  </a:moveTo>
                  <a:cubicBezTo>
                    <a:pt x="202338" y="0"/>
                    <a:pt x="0" y="193713"/>
                    <a:pt x="0" y="432670"/>
                  </a:cubicBezTo>
                  <a:cubicBezTo>
                    <a:pt x="0" y="671627"/>
                    <a:pt x="202338" y="865339"/>
                    <a:pt x="451934" y="865339"/>
                  </a:cubicBezTo>
                  <a:cubicBezTo>
                    <a:pt x="701530" y="865339"/>
                    <a:pt x="903868" y="671627"/>
                    <a:pt x="903868" y="432670"/>
                  </a:cubicBezTo>
                  <a:cubicBezTo>
                    <a:pt x="903868" y="193713"/>
                    <a:pt x="701530" y="0"/>
                    <a:pt x="451934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4738" y="-42699"/>
              <a:ext cx="734393" cy="826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373990" y="-142851"/>
            <a:ext cx="8725116" cy="2717340"/>
          </a:xfrm>
          <a:custGeom>
            <a:avLst/>
            <a:gdLst/>
            <a:ahLst/>
            <a:cxnLst/>
            <a:rect l="l" t="t" r="r" b="b"/>
            <a:pathLst>
              <a:path w="8725116" h="2717340">
                <a:moveTo>
                  <a:pt x="0" y="0"/>
                </a:moveTo>
                <a:lnTo>
                  <a:pt x="8725116" y="0"/>
                </a:lnTo>
                <a:lnTo>
                  <a:pt x="8725116" y="2717339"/>
                </a:lnTo>
                <a:lnTo>
                  <a:pt x="0" y="2717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000"/>
            </a:blip>
            <a:stretch>
              <a:fillRect t="-3607" r="-471" b="-406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424645" y="7437081"/>
            <a:ext cx="924625" cy="924625"/>
          </a:xfrm>
          <a:custGeom>
            <a:avLst/>
            <a:gdLst/>
            <a:ahLst/>
            <a:cxnLst/>
            <a:rect l="l" t="t" r="r" b="b"/>
            <a:pathLst>
              <a:path w="924625" h="924625">
                <a:moveTo>
                  <a:pt x="0" y="0"/>
                </a:moveTo>
                <a:lnTo>
                  <a:pt x="924625" y="0"/>
                </a:lnTo>
                <a:lnTo>
                  <a:pt x="924625" y="924625"/>
                </a:lnTo>
                <a:lnTo>
                  <a:pt x="0" y="924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544152" y="7626435"/>
            <a:ext cx="685611" cy="545918"/>
          </a:xfrm>
          <a:custGeom>
            <a:avLst/>
            <a:gdLst/>
            <a:ahLst/>
            <a:cxnLst/>
            <a:rect l="l" t="t" r="r" b="b"/>
            <a:pathLst>
              <a:path w="685611" h="545918">
                <a:moveTo>
                  <a:pt x="0" y="0"/>
                </a:moveTo>
                <a:lnTo>
                  <a:pt x="685611" y="0"/>
                </a:lnTo>
                <a:lnTo>
                  <a:pt x="685611" y="545917"/>
                </a:lnTo>
                <a:lnTo>
                  <a:pt x="0" y="545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424645" y="5395973"/>
            <a:ext cx="924625" cy="924625"/>
          </a:xfrm>
          <a:custGeom>
            <a:avLst/>
            <a:gdLst/>
            <a:ahLst/>
            <a:cxnLst/>
            <a:rect l="l" t="t" r="r" b="b"/>
            <a:pathLst>
              <a:path w="924625" h="924625">
                <a:moveTo>
                  <a:pt x="0" y="0"/>
                </a:moveTo>
                <a:lnTo>
                  <a:pt x="924625" y="0"/>
                </a:lnTo>
                <a:lnTo>
                  <a:pt x="924625" y="924626"/>
                </a:lnTo>
                <a:lnTo>
                  <a:pt x="0" y="9246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559770" y="5597354"/>
            <a:ext cx="654375" cy="521864"/>
          </a:xfrm>
          <a:custGeom>
            <a:avLst/>
            <a:gdLst/>
            <a:ahLst/>
            <a:cxnLst/>
            <a:rect l="l" t="t" r="r" b="b"/>
            <a:pathLst>
              <a:path w="654375" h="521864">
                <a:moveTo>
                  <a:pt x="0" y="0"/>
                </a:moveTo>
                <a:lnTo>
                  <a:pt x="654375" y="0"/>
                </a:lnTo>
                <a:lnTo>
                  <a:pt x="654375" y="521864"/>
                </a:lnTo>
                <a:lnTo>
                  <a:pt x="0" y="521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1546392" y="6503727"/>
            <a:ext cx="1668625" cy="1668625"/>
          </a:xfrm>
          <a:custGeom>
            <a:avLst/>
            <a:gdLst/>
            <a:ahLst/>
            <a:cxnLst/>
            <a:rect l="l" t="t" r="r" b="b"/>
            <a:pathLst>
              <a:path w="1668625" h="1668625">
                <a:moveTo>
                  <a:pt x="0" y="0"/>
                </a:moveTo>
                <a:lnTo>
                  <a:pt x="1668625" y="0"/>
                </a:lnTo>
                <a:lnTo>
                  <a:pt x="1668625" y="1668625"/>
                </a:lnTo>
                <a:lnTo>
                  <a:pt x="0" y="1668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11979344" y="6786093"/>
            <a:ext cx="802720" cy="1138609"/>
          </a:xfrm>
          <a:custGeom>
            <a:avLst/>
            <a:gdLst/>
            <a:ahLst/>
            <a:cxnLst/>
            <a:rect l="l" t="t" r="r" b="b"/>
            <a:pathLst>
              <a:path w="802720" h="1138609">
                <a:moveTo>
                  <a:pt x="0" y="0"/>
                </a:moveTo>
                <a:lnTo>
                  <a:pt x="802720" y="0"/>
                </a:lnTo>
                <a:lnTo>
                  <a:pt x="802720" y="1138609"/>
                </a:lnTo>
                <a:lnTo>
                  <a:pt x="0" y="11386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9782199" y="6512682"/>
            <a:ext cx="1592743" cy="1592743"/>
          </a:xfrm>
          <a:custGeom>
            <a:avLst/>
            <a:gdLst/>
            <a:ahLst/>
            <a:cxnLst/>
            <a:rect l="l" t="t" r="r" b="b"/>
            <a:pathLst>
              <a:path w="1592743" h="1592743">
                <a:moveTo>
                  <a:pt x="0" y="0"/>
                </a:moveTo>
                <a:lnTo>
                  <a:pt x="1592743" y="0"/>
                </a:lnTo>
                <a:lnTo>
                  <a:pt x="1592743" y="1592743"/>
                </a:lnTo>
                <a:lnTo>
                  <a:pt x="0" y="15927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10123179" y="6878846"/>
            <a:ext cx="918388" cy="918388"/>
          </a:xfrm>
          <a:custGeom>
            <a:avLst/>
            <a:gdLst/>
            <a:ahLst/>
            <a:cxnLst/>
            <a:rect l="l" t="t" r="r" b="b"/>
            <a:pathLst>
              <a:path w="918388" h="918388">
                <a:moveTo>
                  <a:pt x="0" y="0"/>
                </a:moveTo>
                <a:lnTo>
                  <a:pt x="918388" y="0"/>
                </a:lnTo>
                <a:lnTo>
                  <a:pt x="918388" y="918388"/>
                </a:lnTo>
                <a:lnTo>
                  <a:pt x="0" y="918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13386467" y="6598014"/>
            <a:ext cx="1574338" cy="1574338"/>
          </a:xfrm>
          <a:custGeom>
            <a:avLst/>
            <a:gdLst/>
            <a:ahLst/>
            <a:cxnLst/>
            <a:rect l="l" t="t" r="r" b="b"/>
            <a:pathLst>
              <a:path w="1574338" h="1574338">
                <a:moveTo>
                  <a:pt x="0" y="0"/>
                </a:moveTo>
                <a:lnTo>
                  <a:pt x="1574338" y="0"/>
                </a:lnTo>
                <a:lnTo>
                  <a:pt x="1574338" y="1574338"/>
                </a:lnTo>
                <a:lnTo>
                  <a:pt x="0" y="15743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13722761" y="6896134"/>
            <a:ext cx="939896" cy="1081895"/>
          </a:xfrm>
          <a:custGeom>
            <a:avLst/>
            <a:gdLst/>
            <a:ahLst/>
            <a:cxnLst/>
            <a:rect l="l" t="t" r="r" b="b"/>
            <a:pathLst>
              <a:path w="939896" h="1081895">
                <a:moveTo>
                  <a:pt x="0" y="0"/>
                </a:moveTo>
                <a:lnTo>
                  <a:pt x="939897" y="0"/>
                </a:lnTo>
                <a:lnTo>
                  <a:pt x="939897" y="1081894"/>
                </a:lnTo>
                <a:lnTo>
                  <a:pt x="0" y="10818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 flipH="1">
            <a:off x="8720635" y="4329142"/>
            <a:ext cx="11884045" cy="6892746"/>
          </a:xfrm>
          <a:custGeom>
            <a:avLst/>
            <a:gdLst/>
            <a:ahLst/>
            <a:cxnLst/>
            <a:rect l="l" t="t" r="r" b="b"/>
            <a:pathLst>
              <a:path w="11884045" h="6892746">
                <a:moveTo>
                  <a:pt x="11884045" y="0"/>
                </a:moveTo>
                <a:lnTo>
                  <a:pt x="0" y="0"/>
                </a:lnTo>
                <a:lnTo>
                  <a:pt x="0" y="6892746"/>
                </a:lnTo>
                <a:lnTo>
                  <a:pt x="11884045" y="6892746"/>
                </a:lnTo>
                <a:lnTo>
                  <a:pt x="1188404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Freeform 17"/>
          <p:cNvSpPr/>
          <p:nvPr/>
        </p:nvSpPr>
        <p:spPr>
          <a:xfrm>
            <a:off x="11670217" y="-322605"/>
            <a:ext cx="8494957" cy="8494957"/>
          </a:xfrm>
          <a:custGeom>
            <a:avLst/>
            <a:gdLst/>
            <a:ahLst/>
            <a:cxnLst/>
            <a:rect l="l" t="t" r="r" b="b"/>
            <a:pathLst>
              <a:path w="8494957" h="8494957">
                <a:moveTo>
                  <a:pt x="0" y="0"/>
                </a:moveTo>
                <a:lnTo>
                  <a:pt x="8494957" y="0"/>
                </a:lnTo>
                <a:lnTo>
                  <a:pt x="8494957" y="8494957"/>
                </a:lnTo>
                <a:lnTo>
                  <a:pt x="0" y="84949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TextBox 18"/>
          <p:cNvSpPr txBox="1"/>
          <p:nvPr/>
        </p:nvSpPr>
        <p:spPr>
          <a:xfrm>
            <a:off x="886957" y="2288738"/>
            <a:ext cx="8401590" cy="1145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34"/>
              </a:lnSpc>
              <a:spcBef>
                <a:spcPct val="0"/>
              </a:spcBef>
            </a:pPr>
            <a:r>
              <a:rPr lang="en-US" sz="5692" b="1">
                <a:solidFill>
                  <a:srgbClr val="192027"/>
                </a:solidFill>
                <a:latin typeface="Gotham Bold"/>
                <a:ea typeface="Gotham Bold"/>
                <a:cs typeface="Gotham Bold"/>
                <a:sym typeface="Gotham Bold"/>
              </a:rPr>
              <a:t>Marketplace de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21472" y="5489954"/>
            <a:ext cx="2195222" cy="36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270" b="1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ASIGNATURA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6957" y="3183401"/>
            <a:ext cx="8895242" cy="1145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34"/>
              </a:lnSpc>
              <a:spcBef>
                <a:spcPct val="0"/>
              </a:spcBef>
            </a:pPr>
            <a:r>
              <a:rPr lang="en-US" sz="5692" b="1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Servicios Profesionales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21472" y="5954323"/>
            <a:ext cx="4934192" cy="36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270" b="1">
                <a:solidFill>
                  <a:srgbClr val="192027"/>
                </a:solidFill>
                <a:latin typeface="Gotham Bold"/>
                <a:ea typeface="Gotham Bold"/>
                <a:cs typeface="Gotham Bold"/>
                <a:sym typeface="Gotham Bold"/>
              </a:rPr>
              <a:t>Taller Proyecto de Programación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21472" y="7432545"/>
            <a:ext cx="2816268" cy="36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270" b="1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INTEGRANTES: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21472" y="7896127"/>
            <a:ext cx="2467096" cy="36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270" b="1" dirty="0">
                <a:solidFill>
                  <a:srgbClr val="192027"/>
                </a:solidFill>
                <a:latin typeface="Gotham Bold"/>
                <a:ea typeface="Gotham Bold"/>
                <a:cs typeface="Gotham Bold"/>
                <a:sym typeface="Gotham Bold"/>
              </a:rPr>
              <a:t>Daniel Abarzúa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07617" y="8230047"/>
            <a:ext cx="2467096" cy="36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270" b="1">
                <a:solidFill>
                  <a:srgbClr val="192027"/>
                </a:solidFill>
                <a:latin typeface="Gotham Bold"/>
                <a:ea typeface="Gotham Bold"/>
                <a:cs typeface="Gotham Bold"/>
                <a:sym typeface="Gotham Bold"/>
              </a:rPr>
              <a:t>Nicole Chávez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21472" y="8550210"/>
            <a:ext cx="2960748" cy="36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270" b="1">
                <a:solidFill>
                  <a:srgbClr val="192027"/>
                </a:solidFill>
                <a:latin typeface="Gotham Bold"/>
                <a:ea typeface="Gotham Bold"/>
                <a:cs typeface="Gotham Bold"/>
                <a:sym typeface="Gotham Bold"/>
              </a:rPr>
              <a:t>Sebastián Riquelme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21472" y="8889967"/>
            <a:ext cx="2960748" cy="36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270" b="1">
                <a:solidFill>
                  <a:srgbClr val="192027"/>
                </a:solidFill>
                <a:latin typeface="Gotham Bold"/>
                <a:ea typeface="Gotham Bold"/>
                <a:cs typeface="Gotham Bold"/>
                <a:sym typeface="Gotham Bold"/>
              </a:rPr>
              <a:t>Catalina Palma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2721" y="0"/>
            <a:ext cx="3318637" cy="1028700"/>
          </a:xfrm>
          <a:custGeom>
            <a:avLst/>
            <a:gdLst/>
            <a:ahLst/>
            <a:cxnLst/>
            <a:rect l="l" t="t" r="r" b="b"/>
            <a:pathLst>
              <a:path w="3318637" h="1028700">
                <a:moveTo>
                  <a:pt x="0" y="0"/>
                </a:moveTo>
                <a:lnTo>
                  <a:pt x="3318637" y="0"/>
                </a:lnTo>
                <a:lnTo>
                  <a:pt x="331863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8000"/>
            </a:blip>
            <a:stretch>
              <a:fillRect t="-3607" b="-406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3275916" y="518729"/>
            <a:ext cx="12123396" cy="106080"/>
          </a:xfrm>
          <a:custGeom>
            <a:avLst/>
            <a:gdLst/>
            <a:ahLst/>
            <a:cxnLst/>
            <a:rect l="l" t="t" r="r" b="b"/>
            <a:pathLst>
              <a:path w="12123396" h="106080">
                <a:moveTo>
                  <a:pt x="0" y="0"/>
                </a:moveTo>
                <a:lnTo>
                  <a:pt x="12123396" y="0"/>
                </a:lnTo>
                <a:lnTo>
                  <a:pt x="12123396" y="106079"/>
                </a:lnTo>
                <a:lnTo>
                  <a:pt x="0" y="106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392995" y="3115911"/>
            <a:ext cx="4295104" cy="6047900"/>
            <a:chOff x="0" y="0"/>
            <a:chExt cx="1378540" cy="19411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78540" cy="1941110"/>
            </a:xfrm>
            <a:custGeom>
              <a:avLst/>
              <a:gdLst/>
              <a:ahLst/>
              <a:cxnLst/>
              <a:rect l="l" t="t" r="r" b="b"/>
              <a:pathLst>
                <a:path w="1378540" h="1941110">
                  <a:moveTo>
                    <a:pt x="52272" y="0"/>
                  </a:moveTo>
                  <a:lnTo>
                    <a:pt x="1326267" y="0"/>
                  </a:lnTo>
                  <a:cubicBezTo>
                    <a:pt x="1340131" y="0"/>
                    <a:pt x="1353426" y="5507"/>
                    <a:pt x="1363229" y="15310"/>
                  </a:cubicBezTo>
                  <a:cubicBezTo>
                    <a:pt x="1373032" y="25113"/>
                    <a:pt x="1378540" y="38409"/>
                    <a:pt x="1378540" y="52272"/>
                  </a:cubicBezTo>
                  <a:lnTo>
                    <a:pt x="1378540" y="1888838"/>
                  </a:lnTo>
                  <a:cubicBezTo>
                    <a:pt x="1378540" y="1917707"/>
                    <a:pt x="1355137" y="1941110"/>
                    <a:pt x="1326267" y="1941110"/>
                  </a:cubicBezTo>
                  <a:lnTo>
                    <a:pt x="52272" y="1941110"/>
                  </a:lnTo>
                  <a:cubicBezTo>
                    <a:pt x="38409" y="1941110"/>
                    <a:pt x="25113" y="1935603"/>
                    <a:pt x="15310" y="1925800"/>
                  </a:cubicBezTo>
                  <a:cubicBezTo>
                    <a:pt x="5507" y="1915997"/>
                    <a:pt x="0" y="1902701"/>
                    <a:pt x="0" y="1888838"/>
                  </a:cubicBezTo>
                  <a:lnTo>
                    <a:pt x="0" y="52272"/>
                  </a:lnTo>
                  <a:cubicBezTo>
                    <a:pt x="0" y="23403"/>
                    <a:pt x="23403" y="0"/>
                    <a:pt x="52272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1378540" cy="20649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554638" y="6207013"/>
            <a:ext cx="3952253" cy="128448"/>
          </a:xfrm>
          <a:custGeom>
            <a:avLst/>
            <a:gdLst/>
            <a:ahLst/>
            <a:cxnLst/>
            <a:rect l="l" t="t" r="r" b="b"/>
            <a:pathLst>
              <a:path w="3952253" h="128448">
                <a:moveTo>
                  <a:pt x="0" y="0"/>
                </a:moveTo>
                <a:lnTo>
                  <a:pt x="3952253" y="0"/>
                </a:lnTo>
                <a:lnTo>
                  <a:pt x="3952253" y="128449"/>
                </a:lnTo>
                <a:lnTo>
                  <a:pt x="0" y="1284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8" name="Group 8"/>
          <p:cNvGrpSpPr/>
          <p:nvPr/>
        </p:nvGrpSpPr>
        <p:grpSpPr>
          <a:xfrm>
            <a:off x="4878304" y="3243305"/>
            <a:ext cx="4203169" cy="5920506"/>
            <a:chOff x="0" y="0"/>
            <a:chExt cx="1349033" cy="19002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49033" cy="1900222"/>
            </a:xfrm>
            <a:custGeom>
              <a:avLst/>
              <a:gdLst/>
              <a:ahLst/>
              <a:cxnLst/>
              <a:rect l="l" t="t" r="r" b="b"/>
              <a:pathLst>
                <a:path w="1349033" h="1900222">
                  <a:moveTo>
                    <a:pt x="53416" y="0"/>
                  </a:moveTo>
                  <a:lnTo>
                    <a:pt x="1295617" y="0"/>
                  </a:lnTo>
                  <a:cubicBezTo>
                    <a:pt x="1309784" y="0"/>
                    <a:pt x="1323370" y="5628"/>
                    <a:pt x="1333388" y="15645"/>
                  </a:cubicBezTo>
                  <a:cubicBezTo>
                    <a:pt x="1343405" y="25663"/>
                    <a:pt x="1349033" y="39249"/>
                    <a:pt x="1349033" y="53416"/>
                  </a:cubicBezTo>
                  <a:lnTo>
                    <a:pt x="1349033" y="1846807"/>
                  </a:lnTo>
                  <a:cubicBezTo>
                    <a:pt x="1349033" y="1876307"/>
                    <a:pt x="1325118" y="1900222"/>
                    <a:pt x="1295617" y="1900222"/>
                  </a:cubicBezTo>
                  <a:lnTo>
                    <a:pt x="53416" y="1900222"/>
                  </a:lnTo>
                  <a:cubicBezTo>
                    <a:pt x="39249" y="1900222"/>
                    <a:pt x="25663" y="1894595"/>
                    <a:pt x="15645" y="1884577"/>
                  </a:cubicBezTo>
                  <a:cubicBezTo>
                    <a:pt x="5628" y="1874560"/>
                    <a:pt x="0" y="1860973"/>
                    <a:pt x="0" y="1846807"/>
                  </a:cubicBezTo>
                  <a:lnTo>
                    <a:pt x="0" y="53416"/>
                  </a:lnTo>
                  <a:cubicBezTo>
                    <a:pt x="0" y="39249"/>
                    <a:pt x="5628" y="25663"/>
                    <a:pt x="15645" y="15645"/>
                  </a:cubicBezTo>
                  <a:cubicBezTo>
                    <a:pt x="25663" y="5628"/>
                    <a:pt x="39249" y="0"/>
                    <a:pt x="53416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23825"/>
              <a:ext cx="1349033" cy="2024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40327" y="3687615"/>
            <a:ext cx="1353571" cy="135357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202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4973849" y="6207013"/>
            <a:ext cx="3952253" cy="128448"/>
          </a:xfrm>
          <a:custGeom>
            <a:avLst/>
            <a:gdLst/>
            <a:ahLst/>
            <a:cxnLst/>
            <a:rect l="l" t="t" r="r" b="b"/>
            <a:pathLst>
              <a:path w="3952253" h="128448">
                <a:moveTo>
                  <a:pt x="0" y="0"/>
                </a:moveTo>
                <a:lnTo>
                  <a:pt x="3952254" y="0"/>
                </a:lnTo>
                <a:lnTo>
                  <a:pt x="3952254" y="128449"/>
                </a:lnTo>
                <a:lnTo>
                  <a:pt x="0" y="1284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5" name="Group 15"/>
          <p:cNvGrpSpPr/>
          <p:nvPr/>
        </p:nvGrpSpPr>
        <p:grpSpPr>
          <a:xfrm>
            <a:off x="9281600" y="3243305"/>
            <a:ext cx="4187203" cy="5920506"/>
            <a:chOff x="0" y="0"/>
            <a:chExt cx="1343908" cy="190022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43908" cy="1900222"/>
            </a:xfrm>
            <a:custGeom>
              <a:avLst/>
              <a:gdLst/>
              <a:ahLst/>
              <a:cxnLst/>
              <a:rect l="l" t="t" r="r" b="b"/>
              <a:pathLst>
                <a:path w="1343908" h="1900222">
                  <a:moveTo>
                    <a:pt x="53619" y="0"/>
                  </a:moveTo>
                  <a:lnTo>
                    <a:pt x="1290289" y="0"/>
                  </a:lnTo>
                  <a:cubicBezTo>
                    <a:pt x="1319902" y="0"/>
                    <a:pt x="1343908" y="24006"/>
                    <a:pt x="1343908" y="53619"/>
                  </a:cubicBezTo>
                  <a:lnTo>
                    <a:pt x="1343908" y="1846603"/>
                  </a:lnTo>
                  <a:cubicBezTo>
                    <a:pt x="1343908" y="1876216"/>
                    <a:pt x="1319902" y="1900222"/>
                    <a:pt x="1290289" y="1900222"/>
                  </a:cubicBezTo>
                  <a:lnTo>
                    <a:pt x="53619" y="1900222"/>
                  </a:lnTo>
                  <a:cubicBezTo>
                    <a:pt x="24006" y="1900222"/>
                    <a:pt x="0" y="1876216"/>
                    <a:pt x="0" y="1846603"/>
                  </a:cubicBezTo>
                  <a:lnTo>
                    <a:pt x="0" y="53619"/>
                  </a:lnTo>
                  <a:cubicBezTo>
                    <a:pt x="0" y="24006"/>
                    <a:pt x="24006" y="0"/>
                    <a:pt x="53619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23825"/>
              <a:ext cx="1343908" cy="20240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9386375" y="6207013"/>
            <a:ext cx="3952253" cy="128448"/>
          </a:xfrm>
          <a:custGeom>
            <a:avLst/>
            <a:gdLst/>
            <a:ahLst/>
            <a:cxnLst/>
            <a:rect l="l" t="t" r="r" b="b"/>
            <a:pathLst>
              <a:path w="3952253" h="128448">
                <a:moveTo>
                  <a:pt x="0" y="0"/>
                </a:moveTo>
                <a:lnTo>
                  <a:pt x="3952254" y="0"/>
                </a:lnTo>
                <a:lnTo>
                  <a:pt x="3952254" y="128449"/>
                </a:lnTo>
                <a:lnTo>
                  <a:pt x="0" y="1284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19"/>
          <p:cNvGrpSpPr/>
          <p:nvPr/>
        </p:nvGrpSpPr>
        <p:grpSpPr>
          <a:xfrm>
            <a:off x="13668931" y="3338851"/>
            <a:ext cx="4173791" cy="5824961"/>
            <a:chOff x="0" y="0"/>
            <a:chExt cx="1339603" cy="186955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39603" cy="1869556"/>
            </a:xfrm>
            <a:custGeom>
              <a:avLst/>
              <a:gdLst/>
              <a:ahLst/>
              <a:cxnLst/>
              <a:rect l="l" t="t" r="r" b="b"/>
              <a:pathLst>
                <a:path w="1339603" h="1869556">
                  <a:moveTo>
                    <a:pt x="53792" y="0"/>
                  </a:moveTo>
                  <a:lnTo>
                    <a:pt x="1285812" y="0"/>
                  </a:lnTo>
                  <a:cubicBezTo>
                    <a:pt x="1315520" y="0"/>
                    <a:pt x="1339603" y="24083"/>
                    <a:pt x="1339603" y="53792"/>
                  </a:cubicBezTo>
                  <a:lnTo>
                    <a:pt x="1339603" y="1815765"/>
                  </a:lnTo>
                  <a:cubicBezTo>
                    <a:pt x="1339603" y="1845473"/>
                    <a:pt x="1315520" y="1869556"/>
                    <a:pt x="1285812" y="1869556"/>
                  </a:cubicBezTo>
                  <a:lnTo>
                    <a:pt x="53792" y="1869556"/>
                  </a:lnTo>
                  <a:cubicBezTo>
                    <a:pt x="24083" y="1869556"/>
                    <a:pt x="0" y="1845473"/>
                    <a:pt x="0" y="1815765"/>
                  </a:cubicBezTo>
                  <a:lnTo>
                    <a:pt x="0" y="53792"/>
                  </a:lnTo>
                  <a:cubicBezTo>
                    <a:pt x="0" y="24083"/>
                    <a:pt x="24083" y="0"/>
                    <a:pt x="53792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23825"/>
              <a:ext cx="1339603" cy="1993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3789730" y="6201770"/>
            <a:ext cx="3952253" cy="128448"/>
          </a:xfrm>
          <a:custGeom>
            <a:avLst/>
            <a:gdLst/>
            <a:ahLst/>
            <a:cxnLst/>
            <a:rect l="l" t="t" r="r" b="b"/>
            <a:pathLst>
              <a:path w="3952253" h="128448">
                <a:moveTo>
                  <a:pt x="0" y="0"/>
                </a:moveTo>
                <a:lnTo>
                  <a:pt x="3952253" y="0"/>
                </a:lnTo>
                <a:lnTo>
                  <a:pt x="3952253" y="128448"/>
                </a:lnTo>
                <a:lnTo>
                  <a:pt x="0" y="128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3" name="Freeform 23"/>
          <p:cNvSpPr/>
          <p:nvPr/>
        </p:nvSpPr>
        <p:spPr>
          <a:xfrm>
            <a:off x="1595749" y="3671392"/>
            <a:ext cx="1442727" cy="1442727"/>
          </a:xfrm>
          <a:custGeom>
            <a:avLst/>
            <a:gdLst/>
            <a:ahLst/>
            <a:cxnLst/>
            <a:rect l="l" t="t" r="r" b="b"/>
            <a:pathLst>
              <a:path w="1442727" h="1442727">
                <a:moveTo>
                  <a:pt x="0" y="0"/>
                </a:moveTo>
                <a:lnTo>
                  <a:pt x="1442727" y="0"/>
                </a:lnTo>
                <a:lnTo>
                  <a:pt x="1442727" y="1442727"/>
                </a:lnTo>
                <a:lnTo>
                  <a:pt x="0" y="14427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24" name="Group 24"/>
          <p:cNvGrpSpPr/>
          <p:nvPr/>
        </p:nvGrpSpPr>
        <p:grpSpPr>
          <a:xfrm>
            <a:off x="10598690" y="3744325"/>
            <a:ext cx="1353571" cy="1353571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202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0554112" y="3708396"/>
            <a:ext cx="1442727" cy="1442727"/>
          </a:xfrm>
          <a:custGeom>
            <a:avLst/>
            <a:gdLst/>
            <a:ahLst/>
            <a:cxnLst/>
            <a:rect l="l" t="t" r="r" b="b"/>
            <a:pathLst>
              <a:path w="1442727" h="1442727">
                <a:moveTo>
                  <a:pt x="0" y="0"/>
                </a:moveTo>
                <a:lnTo>
                  <a:pt x="1442727" y="0"/>
                </a:lnTo>
                <a:lnTo>
                  <a:pt x="1442727" y="1442727"/>
                </a:lnTo>
                <a:lnTo>
                  <a:pt x="0" y="14427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8" name="Freeform 28"/>
          <p:cNvSpPr/>
          <p:nvPr/>
        </p:nvSpPr>
        <p:spPr>
          <a:xfrm>
            <a:off x="14975579" y="3769676"/>
            <a:ext cx="1410281" cy="1410281"/>
          </a:xfrm>
          <a:custGeom>
            <a:avLst/>
            <a:gdLst/>
            <a:ahLst/>
            <a:cxnLst/>
            <a:rect l="l" t="t" r="r" b="b"/>
            <a:pathLst>
              <a:path w="1410281" h="1410281">
                <a:moveTo>
                  <a:pt x="0" y="0"/>
                </a:moveTo>
                <a:lnTo>
                  <a:pt x="1410282" y="0"/>
                </a:lnTo>
                <a:lnTo>
                  <a:pt x="1410282" y="1410281"/>
                </a:lnTo>
                <a:lnTo>
                  <a:pt x="0" y="1410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9" name="Freeform 29"/>
          <p:cNvSpPr/>
          <p:nvPr/>
        </p:nvSpPr>
        <p:spPr>
          <a:xfrm>
            <a:off x="14964229" y="3783462"/>
            <a:ext cx="1456703" cy="1437833"/>
          </a:xfrm>
          <a:custGeom>
            <a:avLst/>
            <a:gdLst/>
            <a:ahLst/>
            <a:cxnLst/>
            <a:rect l="l" t="t" r="r" b="b"/>
            <a:pathLst>
              <a:path w="1456703" h="1437833">
                <a:moveTo>
                  <a:pt x="0" y="0"/>
                </a:moveTo>
                <a:lnTo>
                  <a:pt x="1456702" y="0"/>
                </a:lnTo>
                <a:lnTo>
                  <a:pt x="1456702" y="1437833"/>
                </a:lnTo>
                <a:lnTo>
                  <a:pt x="0" y="14378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0" name="Freeform 30"/>
          <p:cNvSpPr/>
          <p:nvPr/>
        </p:nvSpPr>
        <p:spPr>
          <a:xfrm>
            <a:off x="1616597" y="3653580"/>
            <a:ext cx="1421879" cy="1387606"/>
          </a:xfrm>
          <a:custGeom>
            <a:avLst/>
            <a:gdLst/>
            <a:ahLst/>
            <a:cxnLst/>
            <a:rect l="l" t="t" r="r" b="b"/>
            <a:pathLst>
              <a:path w="1421879" h="1387606">
                <a:moveTo>
                  <a:pt x="0" y="0"/>
                </a:moveTo>
                <a:lnTo>
                  <a:pt x="1421879" y="0"/>
                </a:lnTo>
                <a:lnTo>
                  <a:pt x="1421879" y="1387606"/>
                </a:lnTo>
                <a:lnTo>
                  <a:pt x="0" y="13876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209" t="-2824" r="-120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1" name="Freeform 31"/>
          <p:cNvSpPr/>
          <p:nvPr/>
        </p:nvSpPr>
        <p:spPr>
          <a:xfrm>
            <a:off x="10453787" y="3653580"/>
            <a:ext cx="1697384" cy="1487637"/>
          </a:xfrm>
          <a:custGeom>
            <a:avLst/>
            <a:gdLst/>
            <a:ahLst/>
            <a:cxnLst/>
            <a:rect l="l" t="t" r="r" b="b"/>
            <a:pathLst>
              <a:path w="1697384" h="1487637">
                <a:moveTo>
                  <a:pt x="0" y="0"/>
                </a:moveTo>
                <a:lnTo>
                  <a:pt x="1697384" y="0"/>
                </a:lnTo>
                <a:lnTo>
                  <a:pt x="1697384" y="1487637"/>
                </a:lnTo>
                <a:lnTo>
                  <a:pt x="0" y="14876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4645" b="-47487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2" name="Freeform 32"/>
          <p:cNvSpPr/>
          <p:nvPr/>
        </p:nvSpPr>
        <p:spPr>
          <a:xfrm>
            <a:off x="6203569" y="3571375"/>
            <a:ext cx="1492813" cy="1526522"/>
          </a:xfrm>
          <a:custGeom>
            <a:avLst/>
            <a:gdLst/>
            <a:ahLst/>
            <a:cxnLst/>
            <a:rect l="l" t="t" r="r" b="b"/>
            <a:pathLst>
              <a:path w="1492813" h="1526522">
                <a:moveTo>
                  <a:pt x="0" y="0"/>
                </a:moveTo>
                <a:lnTo>
                  <a:pt x="1492813" y="0"/>
                </a:lnTo>
                <a:lnTo>
                  <a:pt x="1492813" y="1526522"/>
                </a:lnTo>
                <a:lnTo>
                  <a:pt x="0" y="152652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3" name="TextBox 33"/>
          <p:cNvSpPr txBox="1"/>
          <p:nvPr/>
        </p:nvSpPr>
        <p:spPr>
          <a:xfrm>
            <a:off x="600713" y="6471768"/>
            <a:ext cx="3237360" cy="313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8126" lvl="1" indent="-189063" algn="l">
              <a:lnSpc>
                <a:spcPts val="2557"/>
              </a:lnSpc>
              <a:buFont typeface="Arial"/>
              <a:buChar char="•"/>
            </a:pPr>
            <a:r>
              <a:rPr lang="en-US" sz="1751" spc="52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Casos y Plan de Pruebas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00713" y="5008248"/>
            <a:ext cx="3686050" cy="569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7"/>
              </a:lnSpc>
              <a:spcBef>
                <a:spcPct val="0"/>
              </a:spcBef>
            </a:pPr>
            <a:r>
              <a:rPr lang="en-US" sz="2828" b="1">
                <a:solidFill>
                  <a:srgbClr val="192027"/>
                </a:solidFill>
                <a:latin typeface="Gotham Bold"/>
                <a:ea typeface="Gotham Bold"/>
                <a:cs typeface="Gotham Bold"/>
                <a:sym typeface="Gotham Bold"/>
              </a:rPr>
              <a:t>Nicole Chávez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95853" y="5567584"/>
            <a:ext cx="3237360" cy="34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</a:pPr>
            <a:r>
              <a:rPr lang="en-US" sz="1925" b="1" spc="57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QA / Documentación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974330" y="1804768"/>
            <a:ext cx="14214286" cy="995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1"/>
              </a:lnSpc>
              <a:spcBef>
                <a:spcPct val="0"/>
              </a:spcBef>
            </a:pPr>
            <a:r>
              <a:rPr lang="en-US" sz="4919" b="1">
                <a:solidFill>
                  <a:srgbClr val="192027"/>
                </a:solidFill>
                <a:latin typeface="Gotham Bold"/>
                <a:ea typeface="Gotham Bold"/>
                <a:cs typeface="Gotham Bold"/>
                <a:sym typeface="Gotham Bold"/>
              </a:rPr>
              <a:t>Equipo de trabajo y</a:t>
            </a:r>
            <a:r>
              <a:rPr lang="en-US" sz="4919" b="1">
                <a:solidFill>
                  <a:srgbClr val="059640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4919" b="1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Responsabilidades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00713" y="7054729"/>
            <a:ext cx="3906178" cy="637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8126" lvl="1" indent="-189063" algn="l">
              <a:lnSpc>
                <a:spcPts val="2557"/>
              </a:lnSpc>
              <a:buFont typeface="Arial"/>
              <a:buChar char="•"/>
            </a:pPr>
            <a:r>
              <a:rPr lang="en-US" sz="1751" spc="52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Elaboración de documentación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54638" y="7806863"/>
            <a:ext cx="3906178" cy="313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8126" lvl="1" indent="-189063" algn="l">
              <a:lnSpc>
                <a:spcPts val="2557"/>
              </a:lnSpc>
              <a:buFont typeface="Arial"/>
              <a:buChar char="•"/>
            </a:pPr>
            <a:r>
              <a:rPr lang="en-US" sz="1751" spc="52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Validación Funcional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00713" y="8339242"/>
            <a:ext cx="3906178" cy="313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8126" lvl="1" indent="-189063" algn="l">
              <a:lnSpc>
                <a:spcPts val="2557"/>
              </a:lnSpc>
              <a:buFont typeface="Arial"/>
              <a:buChar char="•"/>
            </a:pPr>
            <a:r>
              <a:rPr lang="en-US" sz="1751" spc="52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Seguimiento de incidencias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019924" y="6471768"/>
            <a:ext cx="3237360" cy="637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8126" lvl="1" indent="-189063" algn="l">
              <a:lnSpc>
                <a:spcPts val="2557"/>
              </a:lnSpc>
              <a:buFont typeface="Arial"/>
              <a:buChar char="•"/>
            </a:pPr>
            <a:r>
              <a:rPr lang="en-US" sz="1751" spc="52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Gestión del Product Backlog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315064" y="5567584"/>
            <a:ext cx="3237360" cy="698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</a:pPr>
            <a:r>
              <a:rPr lang="en-US" sz="1925" b="1" spc="57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Product Owner &amp; Scrum Master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019924" y="7242612"/>
            <a:ext cx="3906178" cy="313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8126" lvl="1" indent="-189063" algn="l">
              <a:lnSpc>
                <a:spcPts val="2557"/>
              </a:lnSpc>
              <a:buFont typeface="Arial"/>
              <a:buChar char="•"/>
            </a:pPr>
            <a:r>
              <a:rPr lang="en-US" sz="1751" spc="52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Coordinación del proyecto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006386" y="7790927"/>
            <a:ext cx="3906178" cy="313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8126" lvl="1" indent="-189063" algn="l">
              <a:lnSpc>
                <a:spcPts val="2557"/>
              </a:lnSpc>
              <a:buFont typeface="Arial"/>
              <a:buChar char="•"/>
            </a:pPr>
            <a:r>
              <a:rPr lang="en-US" sz="1751" spc="52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Levantamiento de requisitos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019924" y="8339242"/>
            <a:ext cx="3906178" cy="313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8126" lvl="1" indent="-189063" algn="l">
              <a:lnSpc>
                <a:spcPts val="2557"/>
              </a:lnSpc>
              <a:buFont typeface="Arial"/>
              <a:buChar char="•"/>
            </a:pPr>
            <a:r>
              <a:rPr lang="en-US" sz="1751" spc="52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Planificación de sprints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432450" y="6471768"/>
            <a:ext cx="3237360" cy="313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8126" lvl="1" indent="-189063" algn="l">
              <a:lnSpc>
                <a:spcPts val="2557"/>
              </a:lnSpc>
              <a:buFont typeface="Arial"/>
              <a:buChar char="•"/>
            </a:pPr>
            <a:r>
              <a:rPr lang="en-US" sz="1751" spc="52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Desarrollo APIs REST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824423" y="5622065"/>
            <a:ext cx="3237360" cy="34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</a:pPr>
            <a:r>
              <a:rPr lang="en-US" sz="1925" b="1" spc="57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Backend Developer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32450" y="6921719"/>
            <a:ext cx="3906178" cy="313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8126" lvl="1" indent="-189063" algn="l">
              <a:lnSpc>
                <a:spcPts val="2557"/>
              </a:lnSpc>
              <a:buFont typeface="Arial"/>
              <a:buChar char="•"/>
            </a:pPr>
            <a:r>
              <a:rPr lang="en-US" sz="1751" spc="52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Integración con MySQL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432450" y="7321088"/>
            <a:ext cx="3906178" cy="637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8126" lvl="1" indent="-189063" algn="l">
              <a:lnSpc>
                <a:spcPts val="2557"/>
              </a:lnSpc>
              <a:buFont typeface="Arial"/>
              <a:buChar char="•"/>
            </a:pPr>
            <a:r>
              <a:rPr lang="en-US" sz="1751" spc="52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Seguridad y autenticación JWT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432450" y="8044307"/>
            <a:ext cx="3906178" cy="313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8126" lvl="1" indent="-189063" algn="l">
              <a:lnSpc>
                <a:spcPts val="2557"/>
              </a:lnSpc>
              <a:buFont typeface="Arial"/>
              <a:buChar char="•"/>
            </a:pPr>
            <a:r>
              <a:rPr lang="en-US" sz="1751" spc="52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Lógica de negocio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835805" y="6471768"/>
            <a:ext cx="3906178" cy="313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8126" lvl="1" indent="-189063" algn="l">
              <a:lnSpc>
                <a:spcPts val="2557"/>
              </a:lnSpc>
              <a:buFont typeface="Arial"/>
              <a:buChar char="•"/>
            </a:pPr>
            <a:r>
              <a:rPr lang="en-US" sz="1751" spc="52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Desarrollo interfaces React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432450" y="5055492"/>
            <a:ext cx="3686050" cy="569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7"/>
              </a:lnSpc>
              <a:spcBef>
                <a:spcPct val="0"/>
              </a:spcBef>
            </a:pPr>
            <a:r>
              <a:rPr lang="en-US" sz="2828" b="1">
                <a:solidFill>
                  <a:srgbClr val="192027"/>
                </a:solidFill>
                <a:latin typeface="Gotham Bold"/>
                <a:ea typeface="Gotham Bold"/>
                <a:cs typeface="Gotham Bold"/>
                <a:sym typeface="Gotham Bold"/>
              </a:rPr>
              <a:t>Catalina Palma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062040" y="5622065"/>
            <a:ext cx="3237360" cy="34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</a:pPr>
            <a:r>
              <a:rPr lang="en-US" sz="1925" b="1" spc="57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Frontend Developer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903881" y="5078420"/>
            <a:ext cx="3686050" cy="569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7"/>
              </a:lnSpc>
              <a:spcBef>
                <a:spcPct val="0"/>
              </a:spcBef>
            </a:pPr>
            <a:r>
              <a:rPr lang="en-US" sz="2828" b="1">
                <a:solidFill>
                  <a:srgbClr val="192027"/>
                </a:solidFill>
                <a:latin typeface="Gotham Bold"/>
                <a:ea typeface="Gotham Bold"/>
                <a:cs typeface="Gotham Bold"/>
                <a:sym typeface="Gotham Bold"/>
              </a:rPr>
              <a:t>Sebastián Riquelme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3840279" y="6946720"/>
            <a:ext cx="3906178" cy="313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8126" lvl="1" indent="-189063" algn="l">
              <a:lnSpc>
                <a:spcPts val="2557"/>
              </a:lnSpc>
              <a:buFont typeface="Arial"/>
              <a:buChar char="•"/>
            </a:pPr>
            <a:r>
              <a:rPr lang="en-US" sz="1751" spc="52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Consumo de APIs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3840279" y="7467077"/>
            <a:ext cx="3530950" cy="637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8126" lvl="1" indent="-189063" algn="l">
              <a:lnSpc>
                <a:spcPts val="2557"/>
              </a:lnSpc>
              <a:buFont typeface="Arial"/>
              <a:buChar char="•"/>
            </a:pPr>
            <a:r>
              <a:rPr lang="en-US" sz="1751" spc="52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Integración frontend-backend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3835805" y="8177317"/>
            <a:ext cx="3906178" cy="313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8126" lvl="1" indent="-189063" algn="l">
              <a:lnSpc>
                <a:spcPts val="2557"/>
              </a:lnSpc>
              <a:buFont typeface="Arial"/>
              <a:buChar char="•"/>
            </a:pPr>
            <a:r>
              <a:rPr lang="en-US" sz="1751" spc="52">
                <a:solidFill>
                  <a:srgbClr val="332B22"/>
                </a:solidFill>
                <a:latin typeface="Gotham"/>
                <a:ea typeface="Gotham"/>
                <a:cs typeface="Gotham"/>
                <a:sym typeface="Gotham"/>
              </a:rPr>
              <a:t>Diseño responsivo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090719" y="5008248"/>
            <a:ext cx="3686050" cy="569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7"/>
              </a:lnSpc>
              <a:spcBef>
                <a:spcPct val="0"/>
              </a:spcBef>
            </a:pPr>
            <a:r>
              <a:rPr lang="en-US" sz="2828" b="1">
                <a:solidFill>
                  <a:srgbClr val="192027"/>
                </a:solidFill>
                <a:latin typeface="Gotham Bold"/>
                <a:ea typeface="Gotham Bold"/>
                <a:cs typeface="Gotham Bold"/>
                <a:sym typeface="Gotham Bold"/>
              </a:rPr>
              <a:t>Daniel Abarzúa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20619" y="350483"/>
            <a:ext cx="14371670" cy="9537563"/>
          </a:xfrm>
          <a:custGeom>
            <a:avLst/>
            <a:gdLst/>
            <a:ahLst/>
            <a:cxnLst/>
            <a:rect l="l" t="t" r="r" b="b"/>
            <a:pathLst>
              <a:path w="14371670" h="9537563">
                <a:moveTo>
                  <a:pt x="0" y="0"/>
                </a:moveTo>
                <a:lnTo>
                  <a:pt x="14371670" y="0"/>
                </a:lnTo>
                <a:lnTo>
                  <a:pt x="14371670" y="9537563"/>
                </a:lnTo>
                <a:lnTo>
                  <a:pt x="0" y="95375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3318637" cy="1028700"/>
          </a:xfrm>
          <a:custGeom>
            <a:avLst/>
            <a:gdLst/>
            <a:ahLst/>
            <a:cxnLst/>
            <a:rect l="l" t="t" r="r" b="b"/>
            <a:pathLst>
              <a:path w="3318637" h="1028700">
                <a:moveTo>
                  <a:pt x="0" y="0"/>
                </a:moveTo>
                <a:lnTo>
                  <a:pt x="3318637" y="0"/>
                </a:lnTo>
                <a:lnTo>
                  <a:pt x="331863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3000"/>
            </a:blip>
            <a:stretch>
              <a:fillRect t="-3607" b="-406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4241086" y="1549876"/>
            <a:ext cx="204332" cy="2179537"/>
          </a:xfrm>
          <a:custGeom>
            <a:avLst/>
            <a:gdLst/>
            <a:ahLst/>
            <a:cxnLst/>
            <a:rect l="l" t="t" r="r" b="b"/>
            <a:pathLst>
              <a:path w="204332" h="2179537">
                <a:moveTo>
                  <a:pt x="0" y="0"/>
                </a:moveTo>
                <a:lnTo>
                  <a:pt x="204331" y="0"/>
                </a:lnTo>
                <a:lnTo>
                  <a:pt x="204331" y="2179538"/>
                </a:lnTo>
                <a:lnTo>
                  <a:pt x="0" y="2179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4241086" y="3485139"/>
            <a:ext cx="204332" cy="2179537"/>
          </a:xfrm>
          <a:custGeom>
            <a:avLst/>
            <a:gdLst/>
            <a:ahLst/>
            <a:cxnLst/>
            <a:rect l="l" t="t" r="r" b="b"/>
            <a:pathLst>
              <a:path w="204332" h="2179537">
                <a:moveTo>
                  <a:pt x="0" y="0"/>
                </a:moveTo>
                <a:lnTo>
                  <a:pt x="204331" y="0"/>
                </a:lnTo>
                <a:lnTo>
                  <a:pt x="204331" y="2179537"/>
                </a:lnTo>
                <a:lnTo>
                  <a:pt x="0" y="2179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4241086" y="5521082"/>
            <a:ext cx="204332" cy="2179537"/>
          </a:xfrm>
          <a:custGeom>
            <a:avLst/>
            <a:gdLst/>
            <a:ahLst/>
            <a:cxnLst/>
            <a:rect l="l" t="t" r="r" b="b"/>
            <a:pathLst>
              <a:path w="204332" h="2179537">
                <a:moveTo>
                  <a:pt x="0" y="0"/>
                </a:moveTo>
                <a:lnTo>
                  <a:pt x="204331" y="0"/>
                </a:lnTo>
                <a:lnTo>
                  <a:pt x="204331" y="2179537"/>
                </a:lnTo>
                <a:lnTo>
                  <a:pt x="0" y="2179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4241086" y="7515568"/>
            <a:ext cx="204332" cy="2179537"/>
          </a:xfrm>
          <a:custGeom>
            <a:avLst/>
            <a:gdLst/>
            <a:ahLst/>
            <a:cxnLst/>
            <a:rect l="l" t="t" r="r" b="b"/>
            <a:pathLst>
              <a:path w="204332" h="2179537">
                <a:moveTo>
                  <a:pt x="0" y="0"/>
                </a:moveTo>
                <a:lnTo>
                  <a:pt x="204331" y="0"/>
                </a:lnTo>
                <a:lnTo>
                  <a:pt x="204331" y="2179537"/>
                </a:lnTo>
                <a:lnTo>
                  <a:pt x="0" y="2179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2982092" y="1262568"/>
            <a:ext cx="774178" cy="774178"/>
          </a:xfrm>
          <a:custGeom>
            <a:avLst/>
            <a:gdLst/>
            <a:ahLst/>
            <a:cxnLst/>
            <a:rect l="l" t="t" r="r" b="b"/>
            <a:pathLst>
              <a:path w="774178" h="774178">
                <a:moveTo>
                  <a:pt x="0" y="0"/>
                </a:moveTo>
                <a:lnTo>
                  <a:pt x="774179" y="0"/>
                </a:lnTo>
                <a:lnTo>
                  <a:pt x="774179" y="774178"/>
                </a:lnTo>
                <a:lnTo>
                  <a:pt x="0" y="7741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2969638" y="3055420"/>
            <a:ext cx="786633" cy="786633"/>
          </a:xfrm>
          <a:custGeom>
            <a:avLst/>
            <a:gdLst/>
            <a:ahLst/>
            <a:cxnLst/>
            <a:rect l="l" t="t" r="r" b="b"/>
            <a:pathLst>
              <a:path w="786633" h="786633">
                <a:moveTo>
                  <a:pt x="0" y="0"/>
                </a:moveTo>
                <a:lnTo>
                  <a:pt x="786633" y="0"/>
                </a:lnTo>
                <a:lnTo>
                  <a:pt x="786633" y="786633"/>
                </a:lnTo>
                <a:lnTo>
                  <a:pt x="0" y="7866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2968571" y="5101844"/>
            <a:ext cx="787700" cy="787700"/>
          </a:xfrm>
          <a:custGeom>
            <a:avLst/>
            <a:gdLst/>
            <a:ahLst/>
            <a:cxnLst/>
            <a:rect l="l" t="t" r="r" b="b"/>
            <a:pathLst>
              <a:path w="787700" h="787700">
                <a:moveTo>
                  <a:pt x="0" y="0"/>
                </a:moveTo>
                <a:lnTo>
                  <a:pt x="787700" y="0"/>
                </a:lnTo>
                <a:lnTo>
                  <a:pt x="787700" y="787700"/>
                </a:lnTo>
                <a:lnTo>
                  <a:pt x="0" y="787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2968571" y="7146844"/>
            <a:ext cx="787700" cy="787700"/>
          </a:xfrm>
          <a:custGeom>
            <a:avLst/>
            <a:gdLst/>
            <a:ahLst/>
            <a:cxnLst/>
            <a:rect l="l" t="t" r="r" b="b"/>
            <a:pathLst>
              <a:path w="787700" h="787700">
                <a:moveTo>
                  <a:pt x="0" y="0"/>
                </a:moveTo>
                <a:lnTo>
                  <a:pt x="787700" y="0"/>
                </a:lnTo>
                <a:lnTo>
                  <a:pt x="787700" y="787700"/>
                </a:lnTo>
                <a:lnTo>
                  <a:pt x="0" y="787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2937789" y="8960995"/>
            <a:ext cx="818481" cy="818481"/>
          </a:xfrm>
          <a:custGeom>
            <a:avLst/>
            <a:gdLst/>
            <a:ahLst/>
            <a:cxnLst/>
            <a:rect l="l" t="t" r="r" b="b"/>
            <a:pathLst>
              <a:path w="818481" h="818481">
                <a:moveTo>
                  <a:pt x="0" y="0"/>
                </a:moveTo>
                <a:lnTo>
                  <a:pt x="818482" y="0"/>
                </a:lnTo>
                <a:lnTo>
                  <a:pt x="818482" y="818481"/>
                </a:lnTo>
                <a:lnTo>
                  <a:pt x="0" y="818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11550659" y="2578502"/>
            <a:ext cx="204332" cy="2179537"/>
          </a:xfrm>
          <a:custGeom>
            <a:avLst/>
            <a:gdLst/>
            <a:ahLst/>
            <a:cxnLst/>
            <a:rect l="l" t="t" r="r" b="b"/>
            <a:pathLst>
              <a:path w="204332" h="2179537">
                <a:moveTo>
                  <a:pt x="0" y="0"/>
                </a:moveTo>
                <a:lnTo>
                  <a:pt x="204331" y="0"/>
                </a:lnTo>
                <a:lnTo>
                  <a:pt x="204331" y="2179537"/>
                </a:lnTo>
                <a:lnTo>
                  <a:pt x="0" y="2179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11550659" y="4513765"/>
            <a:ext cx="204332" cy="2179537"/>
          </a:xfrm>
          <a:custGeom>
            <a:avLst/>
            <a:gdLst/>
            <a:ahLst/>
            <a:cxnLst/>
            <a:rect l="l" t="t" r="r" b="b"/>
            <a:pathLst>
              <a:path w="204332" h="2179537">
                <a:moveTo>
                  <a:pt x="0" y="0"/>
                </a:moveTo>
                <a:lnTo>
                  <a:pt x="204331" y="0"/>
                </a:lnTo>
                <a:lnTo>
                  <a:pt x="204331" y="2179537"/>
                </a:lnTo>
                <a:lnTo>
                  <a:pt x="0" y="2179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11550659" y="6549707"/>
            <a:ext cx="204332" cy="2179537"/>
          </a:xfrm>
          <a:custGeom>
            <a:avLst/>
            <a:gdLst/>
            <a:ahLst/>
            <a:cxnLst/>
            <a:rect l="l" t="t" r="r" b="b"/>
            <a:pathLst>
              <a:path w="204332" h="2179537">
                <a:moveTo>
                  <a:pt x="0" y="0"/>
                </a:moveTo>
                <a:lnTo>
                  <a:pt x="204331" y="0"/>
                </a:lnTo>
                <a:lnTo>
                  <a:pt x="204331" y="2179538"/>
                </a:lnTo>
                <a:lnTo>
                  <a:pt x="0" y="2179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>
            <a:off x="10290487" y="2219444"/>
            <a:ext cx="775598" cy="775598"/>
          </a:xfrm>
          <a:custGeom>
            <a:avLst/>
            <a:gdLst/>
            <a:ahLst/>
            <a:cxnLst/>
            <a:rect l="l" t="t" r="r" b="b"/>
            <a:pathLst>
              <a:path w="775598" h="775598">
                <a:moveTo>
                  <a:pt x="0" y="0"/>
                </a:moveTo>
                <a:lnTo>
                  <a:pt x="775598" y="0"/>
                </a:lnTo>
                <a:lnTo>
                  <a:pt x="775598" y="775598"/>
                </a:lnTo>
                <a:lnTo>
                  <a:pt x="0" y="7755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Freeform 17"/>
          <p:cNvSpPr/>
          <p:nvPr/>
        </p:nvSpPr>
        <p:spPr>
          <a:xfrm>
            <a:off x="10290487" y="4204717"/>
            <a:ext cx="775598" cy="775598"/>
          </a:xfrm>
          <a:custGeom>
            <a:avLst/>
            <a:gdLst/>
            <a:ahLst/>
            <a:cxnLst/>
            <a:rect l="l" t="t" r="r" b="b"/>
            <a:pathLst>
              <a:path w="775598" h="775598">
                <a:moveTo>
                  <a:pt x="0" y="0"/>
                </a:moveTo>
                <a:lnTo>
                  <a:pt x="775598" y="0"/>
                </a:lnTo>
                <a:lnTo>
                  <a:pt x="775598" y="775598"/>
                </a:lnTo>
                <a:lnTo>
                  <a:pt x="0" y="7755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18"/>
          <p:cNvSpPr/>
          <p:nvPr/>
        </p:nvSpPr>
        <p:spPr>
          <a:xfrm>
            <a:off x="10290487" y="6189990"/>
            <a:ext cx="775357" cy="775357"/>
          </a:xfrm>
          <a:custGeom>
            <a:avLst/>
            <a:gdLst/>
            <a:ahLst/>
            <a:cxnLst/>
            <a:rect l="l" t="t" r="r" b="b"/>
            <a:pathLst>
              <a:path w="775357" h="775357">
                <a:moveTo>
                  <a:pt x="0" y="0"/>
                </a:moveTo>
                <a:lnTo>
                  <a:pt x="775357" y="0"/>
                </a:lnTo>
                <a:lnTo>
                  <a:pt x="775357" y="775357"/>
                </a:lnTo>
                <a:lnTo>
                  <a:pt x="0" y="7753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9" name="Freeform 19"/>
          <p:cNvSpPr/>
          <p:nvPr/>
        </p:nvSpPr>
        <p:spPr>
          <a:xfrm>
            <a:off x="10290487" y="8175022"/>
            <a:ext cx="803556" cy="803556"/>
          </a:xfrm>
          <a:custGeom>
            <a:avLst/>
            <a:gdLst/>
            <a:ahLst/>
            <a:cxnLst/>
            <a:rect l="l" t="t" r="r" b="b"/>
            <a:pathLst>
              <a:path w="803556" h="803556">
                <a:moveTo>
                  <a:pt x="0" y="0"/>
                </a:moveTo>
                <a:lnTo>
                  <a:pt x="803556" y="0"/>
                </a:lnTo>
                <a:lnTo>
                  <a:pt x="803556" y="803557"/>
                </a:lnTo>
                <a:lnTo>
                  <a:pt x="0" y="803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20" name="Group 20"/>
          <p:cNvGrpSpPr/>
          <p:nvPr/>
        </p:nvGrpSpPr>
        <p:grpSpPr>
          <a:xfrm>
            <a:off x="4729041" y="1363977"/>
            <a:ext cx="5373695" cy="940589"/>
            <a:chOff x="0" y="0"/>
            <a:chExt cx="1415294" cy="24772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15294" cy="247727"/>
            </a:xfrm>
            <a:custGeom>
              <a:avLst/>
              <a:gdLst/>
              <a:ahLst/>
              <a:cxnLst/>
              <a:rect l="l" t="t" r="r" b="b"/>
              <a:pathLst>
                <a:path w="1415294" h="247727">
                  <a:moveTo>
                    <a:pt x="0" y="0"/>
                  </a:moveTo>
                  <a:lnTo>
                    <a:pt x="1415294" y="0"/>
                  </a:lnTo>
                  <a:lnTo>
                    <a:pt x="1415294" y="247727"/>
                  </a:lnTo>
                  <a:lnTo>
                    <a:pt x="0" y="247727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EAEBEE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415294" cy="2953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29041" y="3130617"/>
            <a:ext cx="4577482" cy="940589"/>
            <a:chOff x="0" y="0"/>
            <a:chExt cx="1205592" cy="24772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05592" cy="247727"/>
            </a:xfrm>
            <a:custGeom>
              <a:avLst/>
              <a:gdLst/>
              <a:ahLst/>
              <a:cxnLst/>
              <a:rect l="l" t="t" r="r" b="b"/>
              <a:pathLst>
                <a:path w="1205592" h="247727">
                  <a:moveTo>
                    <a:pt x="0" y="0"/>
                  </a:moveTo>
                  <a:lnTo>
                    <a:pt x="1205592" y="0"/>
                  </a:lnTo>
                  <a:lnTo>
                    <a:pt x="1205592" y="247727"/>
                  </a:lnTo>
                  <a:lnTo>
                    <a:pt x="0" y="247727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EAEBEE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205592" cy="2953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4930569" y="1447516"/>
            <a:ext cx="787288" cy="773511"/>
          </a:xfrm>
          <a:custGeom>
            <a:avLst/>
            <a:gdLst/>
            <a:ahLst/>
            <a:cxnLst/>
            <a:rect l="l" t="t" r="r" b="b"/>
            <a:pathLst>
              <a:path w="787288" h="773511">
                <a:moveTo>
                  <a:pt x="0" y="0"/>
                </a:moveTo>
                <a:lnTo>
                  <a:pt x="787289" y="0"/>
                </a:lnTo>
                <a:lnTo>
                  <a:pt x="787289" y="773511"/>
                </a:lnTo>
                <a:lnTo>
                  <a:pt x="0" y="7735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27" name="Group 27"/>
          <p:cNvGrpSpPr/>
          <p:nvPr/>
        </p:nvGrpSpPr>
        <p:grpSpPr>
          <a:xfrm>
            <a:off x="4872769" y="5101844"/>
            <a:ext cx="4577482" cy="940589"/>
            <a:chOff x="0" y="0"/>
            <a:chExt cx="1205592" cy="24772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05592" cy="247727"/>
            </a:xfrm>
            <a:custGeom>
              <a:avLst/>
              <a:gdLst/>
              <a:ahLst/>
              <a:cxnLst/>
              <a:rect l="l" t="t" r="r" b="b"/>
              <a:pathLst>
                <a:path w="1205592" h="247727">
                  <a:moveTo>
                    <a:pt x="0" y="0"/>
                  </a:moveTo>
                  <a:lnTo>
                    <a:pt x="1205592" y="0"/>
                  </a:lnTo>
                  <a:lnTo>
                    <a:pt x="1205592" y="247727"/>
                  </a:lnTo>
                  <a:lnTo>
                    <a:pt x="0" y="247727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EAEBEE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1205592" cy="2953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4896409" y="3278381"/>
            <a:ext cx="725376" cy="614756"/>
          </a:xfrm>
          <a:custGeom>
            <a:avLst/>
            <a:gdLst/>
            <a:ahLst/>
            <a:cxnLst/>
            <a:rect l="l" t="t" r="r" b="b"/>
            <a:pathLst>
              <a:path w="725376" h="614756">
                <a:moveTo>
                  <a:pt x="0" y="0"/>
                </a:moveTo>
                <a:lnTo>
                  <a:pt x="725377" y="0"/>
                </a:lnTo>
                <a:lnTo>
                  <a:pt x="725377" y="614756"/>
                </a:lnTo>
                <a:lnTo>
                  <a:pt x="0" y="614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1" name="Freeform 31"/>
          <p:cNvSpPr/>
          <p:nvPr/>
        </p:nvSpPr>
        <p:spPr>
          <a:xfrm>
            <a:off x="5088772" y="5234195"/>
            <a:ext cx="581049" cy="573654"/>
          </a:xfrm>
          <a:custGeom>
            <a:avLst/>
            <a:gdLst/>
            <a:ahLst/>
            <a:cxnLst/>
            <a:rect l="l" t="t" r="r" b="b"/>
            <a:pathLst>
              <a:path w="581049" h="573654">
                <a:moveTo>
                  <a:pt x="0" y="0"/>
                </a:moveTo>
                <a:lnTo>
                  <a:pt x="581050" y="0"/>
                </a:lnTo>
                <a:lnTo>
                  <a:pt x="581050" y="573654"/>
                </a:lnTo>
                <a:lnTo>
                  <a:pt x="0" y="573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2" name="Group 32"/>
          <p:cNvGrpSpPr/>
          <p:nvPr/>
        </p:nvGrpSpPr>
        <p:grpSpPr>
          <a:xfrm>
            <a:off x="4931192" y="7040833"/>
            <a:ext cx="4577482" cy="919111"/>
            <a:chOff x="0" y="0"/>
            <a:chExt cx="1205592" cy="24207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05592" cy="242070"/>
            </a:xfrm>
            <a:custGeom>
              <a:avLst/>
              <a:gdLst/>
              <a:ahLst/>
              <a:cxnLst/>
              <a:rect l="l" t="t" r="r" b="b"/>
              <a:pathLst>
                <a:path w="1205592" h="242070">
                  <a:moveTo>
                    <a:pt x="0" y="0"/>
                  </a:moveTo>
                  <a:lnTo>
                    <a:pt x="1205592" y="0"/>
                  </a:lnTo>
                  <a:lnTo>
                    <a:pt x="1205592" y="242070"/>
                  </a:lnTo>
                  <a:lnTo>
                    <a:pt x="0" y="242070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EAEBEE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1205592" cy="289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931192" y="9134021"/>
            <a:ext cx="4577482" cy="919111"/>
            <a:chOff x="0" y="0"/>
            <a:chExt cx="1205592" cy="24207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05592" cy="242070"/>
            </a:xfrm>
            <a:custGeom>
              <a:avLst/>
              <a:gdLst/>
              <a:ahLst/>
              <a:cxnLst/>
              <a:rect l="l" t="t" r="r" b="b"/>
              <a:pathLst>
                <a:path w="1205592" h="242070">
                  <a:moveTo>
                    <a:pt x="0" y="0"/>
                  </a:moveTo>
                  <a:lnTo>
                    <a:pt x="1205592" y="0"/>
                  </a:lnTo>
                  <a:lnTo>
                    <a:pt x="1205592" y="242070"/>
                  </a:lnTo>
                  <a:lnTo>
                    <a:pt x="0" y="242070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EAEBEE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1205592" cy="289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5088772" y="7156326"/>
            <a:ext cx="680384" cy="688125"/>
          </a:xfrm>
          <a:custGeom>
            <a:avLst/>
            <a:gdLst/>
            <a:ahLst/>
            <a:cxnLst/>
            <a:rect l="l" t="t" r="r" b="b"/>
            <a:pathLst>
              <a:path w="680384" h="688125">
                <a:moveTo>
                  <a:pt x="0" y="0"/>
                </a:moveTo>
                <a:lnTo>
                  <a:pt x="680384" y="0"/>
                </a:lnTo>
                <a:lnTo>
                  <a:pt x="680384" y="688125"/>
                </a:lnTo>
                <a:lnTo>
                  <a:pt x="0" y="6881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9" name="Freeform 39"/>
          <p:cNvSpPr/>
          <p:nvPr/>
        </p:nvSpPr>
        <p:spPr>
          <a:xfrm>
            <a:off x="5101015" y="9312494"/>
            <a:ext cx="655899" cy="575551"/>
          </a:xfrm>
          <a:custGeom>
            <a:avLst/>
            <a:gdLst/>
            <a:ahLst/>
            <a:cxnLst/>
            <a:rect l="l" t="t" r="r" b="b"/>
            <a:pathLst>
              <a:path w="655899" h="575551">
                <a:moveTo>
                  <a:pt x="0" y="0"/>
                </a:moveTo>
                <a:lnTo>
                  <a:pt x="655899" y="0"/>
                </a:lnTo>
                <a:lnTo>
                  <a:pt x="655899" y="575552"/>
                </a:lnTo>
                <a:lnTo>
                  <a:pt x="0" y="575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0" name="Group 40"/>
          <p:cNvGrpSpPr/>
          <p:nvPr/>
        </p:nvGrpSpPr>
        <p:grpSpPr>
          <a:xfrm>
            <a:off x="12003051" y="4161255"/>
            <a:ext cx="4577482" cy="940589"/>
            <a:chOff x="0" y="0"/>
            <a:chExt cx="1205592" cy="24772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05592" cy="247727"/>
            </a:xfrm>
            <a:custGeom>
              <a:avLst/>
              <a:gdLst/>
              <a:ahLst/>
              <a:cxnLst/>
              <a:rect l="l" t="t" r="r" b="b"/>
              <a:pathLst>
                <a:path w="1205592" h="247727">
                  <a:moveTo>
                    <a:pt x="0" y="0"/>
                  </a:moveTo>
                  <a:lnTo>
                    <a:pt x="1205592" y="0"/>
                  </a:lnTo>
                  <a:lnTo>
                    <a:pt x="1205592" y="247727"/>
                  </a:lnTo>
                  <a:lnTo>
                    <a:pt x="0" y="247727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EAEBEE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1205592" cy="2953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955015" y="2251862"/>
            <a:ext cx="4577482" cy="940589"/>
            <a:chOff x="0" y="0"/>
            <a:chExt cx="1205592" cy="247727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205592" cy="247727"/>
            </a:xfrm>
            <a:custGeom>
              <a:avLst/>
              <a:gdLst/>
              <a:ahLst/>
              <a:cxnLst/>
              <a:rect l="l" t="t" r="r" b="b"/>
              <a:pathLst>
                <a:path w="1205592" h="247727">
                  <a:moveTo>
                    <a:pt x="0" y="0"/>
                  </a:moveTo>
                  <a:lnTo>
                    <a:pt x="1205592" y="0"/>
                  </a:lnTo>
                  <a:lnTo>
                    <a:pt x="1205592" y="247727"/>
                  </a:lnTo>
                  <a:lnTo>
                    <a:pt x="0" y="247727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EAEBEE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1205592" cy="2953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003051" y="6140556"/>
            <a:ext cx="4577482" cy="940589"/>
            <a:chOff x="0" y="0"/>
            <a:chExt cx="1205592" cy="24772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205592" cy="247727"/>
            </a:xfrm>
            <a:custGeom>
              <a:avLst/>
              <a:gdLst/>
              <a:ahLst/>
              <a:cxnLst/>
              <a:rect l="l" t="t" r="r" b="b"/>
              <a:pathLst>
                <a:path w="1205592" h="247727">
                  <a:moveTo>
                    <a:pt x="0" y="0"/>
                  </a:moveTo>
                  <a:lnTo>
                    <a:pt x="1205592" y="0"/>
                  </a:lnTo>
                  <a:lnTo>
                    <a:pt x="1205592" y="247727"/>
                  </a:lnTo>
                  <a:lnTo>
                    <a:pt x="0" y="247727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EAEBEE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1205592" cy="2953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1955015" y="8135042"/>
            <a:ext cx="4577482" cy="940589"/>
            <a:chOff x="0" y="0"/>
            <a:chExt cx="1205592" cy="24772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205592" cy="247727"/>
            </a:xfrm>
            <a:custGeom>
              <a:avLst/>
              <a:gdLst/>
              <a:ahLst/>
              <a:cxnLst/>
              <a:rect l="l" t="t" r="r" b="b"/>
              <a:pathLst>
                <a:path w="1205592" h="247727">
                  <a:moveTo>
                    <a:pt x="0" y="0"/>
                  </a:moveTo>
                  <a:lnTo>
                    <a:pt x="1205592" y="0"/>
                  </a:lnTo>
                  <a:lnTo>
                    <a:pt x="1205592" y="247727"/>
                  </a:lnTo>
                  <a:lnTo>
                    <a:pt x="0" y="247727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EAEBEE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1205592" cy="2953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52" name="Freeform 52"/>
          <p:cNvSpPr/>
          <p:nvPr/>
        </p:nvSpPr>
        <p:spPr>
          <a:xfrm>
            <a:off x="12134812" y="2400820"/>
            <a:ext cx="820117" cy="642673"/>
          </a:xfrm>
          <a:custGeom>
            <a:avLst/>
            <a:gdLst/>
            <a:ahLst/>
            <a:cxnLst/>
            <a:rect l="l" t="t" r="r" b="b"/>
            <a:pathLst>
              <a:path w="820117" h="642673">
                <a:moveTo>
                  <a:pt x="0" y="0"/>
                </a:moveTo>
                <a:lnTo>
                  <a:pt x="820117" y="0"/>
                </a:lnTo>
                <a:lnTo>
                  <a:pt x="820117" y="642673"/>
                </a:lnTo>
                <a:lnTo>
                  <a:pt x="0" y="6426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3" name="Freeform 53"/>
          <p:cNvSpPr/>
          <p:nvPr/>
        </p:nvSpPr>
        <p:spPr>
          <a:xfrm>
            <a:off x="12258574" y="4324194"/>
            <a:ext cx="572592" cy="614712"/>
          </a:xfrm>
          <a:custGeom>
            <a:avLst/>
            <a:gdLst/>
            <a:ahLst/>
            <a:cxnLst/>
            <a:rect l="l" t="t" r="r" b="b"/>
            <a:pathLst>
              <a:path w="572592" h="614712">
                <a:moveTo>
                  <a:pt x="0" y="0"/>
                </a:moveTo>
                <a:lnTo>
                  <a:pt x="572592" y="0"/>
                </a:lnTo>
                <a:lnTo>
                  <a:pt x="572592" y="614712"/>
                </a:lnTo>
                <a:lnTo>
                  <a:pt x="0" y="614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4" name="Freeform 54"/>
          <p:cNvSpPr/>
          <p:nvPr/>
        </p:nvSpPr>
        <p:spPr>
          <a:xfrm>
            <a:off x="12134812" y="6235319"/>
            <a:ext cx="807399" cy="807399"/>
          </a:xfrm>
          <a:custGeom>
            <a:avLst/>
            <a:gdLst/>
            <a:ahLst/>
            <a:cxnLst/>
            <a:rect l="l" t="t" r="r" b="b"/>
            <a:pathLst>
              <a:path w="807399" h="807399">
                <a:moveTo>
                  <a:pt x="0" y="0"/>
                </a:moveTo>
                <a:lnTo>
                  <a:pt x="807399" y="0"/>
                </a:lnTo>
                <a:lnTo>
                  <a:pt x="807399" y="807399"/>
                </a:lnTo>
                <a:lnTo>
                  <a:pt x="0" y="807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5" name="Freeform 55"/>
          <p:cNvSpPr/>
          <p:nvPr/>
        </p:nvSpPr>
        <p:spPr>
          <a:xfrm>
            <a:off x="12287860" y="8295518"/>
            <a:ext cx="674434" cy="619636"/>
          </a:xfrm>
          <a:custGeom>
            <a:avLst/>
            <a:gdLst/>
            <a:ahLst/>
            <a:cxnLst/>
            <a:rect l="l" t="t" r="r" b="b"/>
            <a:pathLst>
              <a:path w="674434" h="619636">
                <a:moveTo>
                  <a:pt x="0" y="0"/>
                </a:moveTo>
                <a:lnTo>
                  <a:pt x="674433" y="0"/>
                </a:lnTo>
                <a:lnTo>
                  <a:pt x="674433" y="619636"/>
                </a:lnTo>
                <a:lnTo>
                  <a:pt x="0" y="6196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6" name="TextBox 56"/>
          <p:cNvSpPr txBox="1"/>
          <p:nvPr/>
        </p:nvSpPr>
        <p:spPr>
          <a:xfrm>
            <a:off x="5853353" y="1552442"/>
            <a:ext cx="3285396" cy="619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25" b="1" spc="51">
                <a:solidFill>
                  <a:srgbClr val="231F20"/>
                </a:solidFill>
                <a:latin typeface="Gotham Bold"/>
                <a:ea typeface="Gotham Bold"/>
                <a:cs typeface="Gotham Bold"/>
                <a:sym typeface="Gotham Bold"/>
              </a:rPr>
              <a:t>Descripción y Contexto </a:t>
            </a:r>
          </a:p>
          <a:p>
            <a:pPr algn="ctr">
              <a:lnSpc>
                <a:spcPts val="2519"/>
              </a:lnSpc>
            </a:pPr>
            <a:r>
              <a:rPr lang="en-US" sz="1725" b="1" spc="51">
                <a:solidFill>
                  <a:srgbClr val="231F20"/>
                </a:solidFill>
                <a:latin typeface="Gotham Bold"/>
                <a:ea typeface="Gotham Bold"/>
                <a:cs typeface="Gotham Bold"/>
                <a:sym typeface="Gotham Bold"/>
              </a:rPr>
              <a:t>General del Proyecto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211912" y="3444330"/>
            <a:ext cx="2616314" cy="304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25" b="1" spc="51">
                <a:solidFill>
                  <a:srgbClr val="231F20"/>
                </a:solidFill>
                <a:latin typeface="Gotham Bold"/>
                <a:ea typeface="Gotham Bold"/>
                <a:cs typeface="Gotham Bold"/>
                <a:sym typeface="Gotham Bold"/>
              </a:rPr>
              <a:t>Mercado Objetivo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901389" y="5352661"/>
            <a:ext cx="3237360" cy="304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25" b="1" spc="51">
                <a:solidFill>
                  <a:srgbClr val="231F20"/>
                </a:solidFill>
                <a:latin typeface="Gotham Bold"/>
                <a:ea typeface="Gotham Bold"/>
                <a:cs typeface="Gotham Bold"/>
                <a:sym typeface="Gotham Bold"/>
              </a:rPr>
              <a:t>Problema y Oportunidad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019766" y="7348652"/>
            <a:ext cx="3237360" cy="304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25" b="1" spc="51">
                <a:solidFill>
                  <a:srgbClr val="231F20"/>
                </a:solidFill>
                <a:latin typeface="Gotham Bold"/>
                <a:ea typeface="Gotham Bold"/>
                <a:cs typeface="Gotham Bold"/>
                <a:sym typeface="Gotham Bold"/>
              </a:rPr>
              <a:t>Objetivos del Proyecto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901389" y="9390141"/>
            <a:ext cx="3237360" cy="304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25" b="1" spc="51">
                <a:solidFill>
                  <a:srgbClr val="231F20"/>
                </a:solidFill>
                <a:latin typeface="Gotham Bold"/>
                <a:ea typeface="Gotham Bold"/>
                <a:cs typeface="Gotham Bold"/>
                <a:sym typeface="Gotham Bold"/>
              </a:rPr>
              <a:t>Arquitectura de la solución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954929" y="4439507"/>
            <a:ext cx="3237360" cy="304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25" b="1" spc="51">
                <a:solidFill>
                  <a:srgbClr val="231F20"/>
                </a:solidFill>
                <a:latin typeface="Gotham Bold"/>
                <a:ea typeface="Gotham Bold"/>
                <a:cs typeface="Gotham Bold"/>
                <a:sym typeface="Gotham Bold"/>
              </a:rPr>
              <a:t>Resultado de Pruebas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954929" y="2388700"/>
            <a:ext cx="3237360" cy="619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25" b="1" spc="51">
                <a:solidFill>
                  <a:srgbClr val="231F20"/>
                </a:solidFill>
                <a:latin typeface="Gotham Bold"/>
                <a:ea typeface="Gotham Bold"/>
                <a:cs typeface="Gotham Bold"/>
                <a:sym typeface="Gotham Bold"/>
              </a:rPr>
              <a:t>Diagrama de Componente y Despliegue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3098247" y="6244212"/>
            <a:ext cx="3237360" cy="619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25" b="1" spc="51">
                <a:solidFill>
                  <a:srgbClr val="231F20"/>
                </a:solidFill>
                <a:latin typeface="Gotham Bold"/>
                <a:ea typeface="Gotham Bold"/>
                <a:cs typeface="Gotham Bold"/>
                <a:sym typeface="Gotham Bold"/>
              </a:rPr>
              <a:t>Demostración </a:t>
            </a:r>
          </a:p>
          <a:p>
            <a:pPr algn="ctr">
              <a:lnSpc>
                <a:spcPts val="2519"/>
              </a:lnSpc>
            </a:pPr>
            <a:r>
              <a:rPr lang="en-US" sz="1725" b="1" spc="51">
                <a:solidFill>
                  <a:srgbClr val="231F20"/>
                </a:solidFill>
                <a:latin typeface="Gotham Bold"/>
                <a:ea typeface="Gotham Bold"/>
                <a:cs typeface="Gotham Bold"/>
                <a:sym typeface="Gotham Bold"/>
              </a:rPr>
              <a:t>del Sistema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954929" y="8309870"/>
            <a:ext cx="3237360" cy="619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25" b="1" spc="51">
                <a:solidFill>
                  <a:srgbClr val="231F20"/>
                </a:solidFill>
                <a:latin typeface="Gotham Bold"/>
                <a:ea typeface="Gotham Bold"/>
                <a:cs typeface="Gotham Bold"/>
                <a:sym typeface="Gotham Bold"/>
              </a:rPr>
              <a:t>Conclusiones </a:t>
            </a:r>
          </a:p>
          <a:p>
            <a:pPr algn="ctr">
              <a:lnSpc>
                <a:spcPts val="2519"/>
              </a:lnSpc>
            </a:pPr>
            <a:r>
              <a:rPr lang="en-US" sz="1725" b="1" spc="51">
                <a:solidFill>
                  <a:srgbClr val="231F20"/>
                </a:solidFill>
                <a:latin typeface="Gotham Bold"/>
                <a:ea typeface="Gotham Bold"/>
                <a:cs typeface="Gotham Bold"/>
                <a:sym typeface="Gotham Bold"/>
              </a:rPr>
              <a:t>y Preguntas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3318938" y="245446"/>
            <a:ext cx="4473471" cy="606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8"/>
              </a:lnSpc>
              <a:spcBef>
                <a:spcPct val="0"/>
              </a:spcBef>
            </a:pPr>
            <a:r>
              <a:rPr lang="en-US" sz="2993">
                <a:solidFill>
                  <a:srgbClr val="56B48C"/>
                </a:solidFill>
                <a:latin typeface="Gotham"/>
                <a:ea typeface="Gotham"/>
                <a:cs typeface="Gotham"/>
                <a:sym typeface="Gotham"/>
              </a:rPr>
              <a:t>Plan de Presentación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3834219" y="680063"/>
            <a:ext cx="4183701" cy="1091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17"/>
              </a:lnSpc>
              <a:spcBef>
                <a:spcPct val="0"/>
              </a:spcBef>
            </a:pPr>
            <a:r>
              <a:rPr lang="en-US" sz="5390" b="1">
                <a:solidFill>
                  <a:srgbClr val="192027"/>
                </a:solidFill>
                <a:latin typeface="Gotham Bold"/>
                <a:ea typeface="Gotham Bold"/>
                <a:cs typeface="Gotham Bold"/>
                <a:sym typeface="Gotham Bold"/>
              </a:rPr>
              <a:t>AGENDA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77728" y="12585975"/>
            <a:ext cx="2932542" cy="233980"/>
            <a:chOff x="0" y="0"/>
            <a:chExt cx="3910057" cy="311974"/>
          </a:xfrm>
        </p:grpSpPr>
        <p:grpSp>
          <p:nvGrpSpPr>
            <p:cNvPr id="3" name="Group 3"/>
            <p:cNvGrpSpPr/>
            <p:nvPr/>
          </p:nvGrpSpPr>
          <p:grpSpPr>
            <a:xfrm>
              <a:off x="1387893" y="0"/>
              <a:ext cx="2522163" cy="311974"/>
              <a:chOff x="0" y="0"/>
              <a:chExt cx="498205" cy="616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98205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498205" h="61624">
                    <a:moveTo>
                      <a:pt x="30812" y="0"/>
                    </a:moveTo>
                    <a:lnTo>
                      <a:pt x="467393" y="0"/>
                    </a:lnTo>
                    <a:cubicBezTo>
                      <a:pt x="484410" y="0"/>
                      <a:pt x="498205" y="13795"/>
                      <a:pt x="498205" y="30812"/>
                    </a:cubicBezTo>
                    <a:lnTo>
                      <a:pt x="498205" y="30812"/>
                    </a:lnTo>
                    <a:cubicBezTo>
                      <a:pt x="498205" y="38984"/>
                      <a:pt x="494959" y="46821"/>
                      <a:pt x="489180" y="52600"/>
                    </a:cubicBezTo>
                    <a:cubicBezTo>
                      <a:pt x="483402" y="58378"/>
                      <a:pt x="475565" y="61624"/>
                      <a:pt x="467393" y="61624"/>
                    </a:cubicBezTo>
                    <a:lnTo>
                      <a:pt x="30812" y="61624"/>
                    </a:lnTo>
                    <a:cubicBezTo>
                      <a:pt x="22640" y="61624"/>
                      <a:pt x="14803" y="58378"/>
                      <a:pt x="9025" y="52600"/>
                    </a:cubicBezTo>
                    <a:cubicBezTo>
                      <a:pt x="3246" y="46821"/>
                      <a:pt x="0" y="38984"/>
                      <a:pt x="0" y="30812"/>
                    </a:cubicBezTo>
                    <a:lnTo>
                      <a:pt x="0" y="30812"/>
                    </a:lnTo>
                    <a:cubicBezTo>
                      <a:pt x="0" y="22640"/>
                      <a:pt x="3246" y="14803"/>
                      <a:pt x="9025" y="9025"/>
                    </a:cubicBezTo>
                    <a:cubicBezTo>
                      <a:pt x="14803" y="3246"/>
                      <a:pt x="22640" y="0"/>
                      <a:pt x="30812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114300"/>
                <a:ext cx="498205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921480" y="0"/>
              <a:ext cx="308340" cy="311974"/>
              <a:chOff x="0" y="0"/>
              <a:chExt cx="60907" cy="6162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60740" y="0"/>
              <a:ext cx="308340" cy="311974"/>
              <a:chOff x="0" y="0"/>
              <a:chExt cx="60907" cy="6162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308340" cy="311974"/>
              <a:chOff x="0" y="0"/>
              <a:chExt cx="60907" cy="6162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0907" cy="61624"/>
              </a:xfrm>
              <a:custGeom>
                <a:avLst/>
                <a:gdLst/>
                <a:ahLst/>
                <a:cxnLst/>
                <a:rect l="l" t="t" r="r" b="b"/>
                <a:pathLst>
                  <a:path w="60907" h="61624">
                    <a:moveTo>
                      <a:pt x="30453" y="0"/>
                    </a:moveTo>
                    <a:lnTo>
                      <a:pt x="30453" y="0"/>
                    </a:lnTo>
                    <a:cubicBezTo>
                      <a:pt x="38530" y="0"/>
                      <a:pt x="46276" y="3208"/>
                      <a:pt x="51987" y="8920"/>
                    </a:cubicBezTo>
                    <a:cubicBezTo>
                      <a:pt x="57698" y="14631"/>
                      <a:pt x="60907" y="22377"/>
                      <a:pt x="60907" y="30453"/>
                    </a:cubicBezTo>
                    <a:lnTo>
                      <a:pt x="60907" y="31171"/>
                    </a:lnTo>
                    <a:cubicBezTo>
                      <a:pt x="60907" y="39248"/>
                      <a:pt x="57698" y="46994"/>
                      <a:pt x="51987" y="52705"/>
                    </a:cubicBezTo>
                    <a:cubicBezTo>
                      <a:pt x="46276" y="58416"/>
                      <a:pt x="38530" y="61624"/>
                      <a:pt x="30453" y="61624"/>
                    </a:cubicBezTo>
                    <a:lnTo>
                      <a:pt x="30453" y="61624"/>
                    </a:lnTo>
                    <a:cubicBezTo>
                      <a:pt x="22377" y="61624"/>
                      <a:pt x="14631" y="58416"/>
                      <a:pt x="8920" y="52705"/>
                    </a:cubicBezTo>
                    <a:cubicBezTo>
                      <a:pt x="3208" y="46994"/>
                      <a:pt x="0" y="39248"/>
                      <a:pt x="0" y="31171"/>
                    </a:cubicBezTo>
                    <a:lnTo>
                      <a:pt x="0" y="30453"/>
                    </a:lnTo>
                    <a:cubicBezTo>
                      <a:pt x="0" y="22377"/>
                      <a:pt x="3208" y="14631"/>
                      <a:pt x="8920" y="8920"/>
                    </a:cubicBezTo>
                    <a:cubicBezTo>
                      <a:pt x="14631" y="3208"/>
                      <a:pt x="22377" y="0"/>
                      <a:pt x="30453" y="0"/>
                    </a:cubicBezTo>
                    <a:close/>
                  </a:path>
                </a:pathLst>
              </a:custGeom>
              <a:solidFill>
                <a:srgbClr val="45B9A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114300"/>
                <a:ext cx="60907" cy="175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52"/>
                  </a:lnSpc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-42721" y="0"/>
            <a:ext cx="3318637" cy="1028700"/>
          </a:xfrm>
          <a:custGeom>
            <a:avLst/>
            <a:gdLst/>
            <a:ahLst/>
            <a:cxnLst/>
            <a:rect l="l" t="t" r="r" b="b"/>
            <a:pathLst>
              <a:path w="3318637" h="1028700">
                <a:moveTo>
                  <a:pt x="0" y="0"/>
                </a:moveTo>
                <a:lnTo>
                  <a:pt x="3318637" y="0"/>
                </a:lnTo>
                <a:lnTo>
                  <a:pt x="331863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8000"/>
            </a:blip>
            <a:stretch>
              <a:fillRect t="-3607" b="-406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>
            <a:off x="3275916" y="518729"/>
            <a:ext cx="12123396" cy="106080"/>
          </a:xfrm>
          <a:custGeom>
            <a:avLst/>
            <a:gdLst/>
            <a:ahLst/>
            <a:cxnLst/>
            <a:rect l="l" t="t" r="r" b="b"/>
            <a:pathLst>
              <a:path w="12123396" h="106080">
                <a:moveTo>
                  <a:pt x="0" y="0"/>
                </a:moveTo>
                <a:lnTo>
                  <a:pt x="12123396" y="0"/>
                </a:lnTo>
                <a:lnTo>
                  <a:pt x="12123396" y="106079"/>
                </a:lnTo>
                <a:lnTo>
                  <a:pt x="0" y="106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TextBox 17"/>
          <p:cNvSpPr txBox="1"/>
          <p:nvPr/>
        </p:nvSpPr>
        <p:spPr>
          <a:xfrm>
            <a:off x="3479595" y="1176993"/>
            <a:ext cx="11272142" cy="1477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7"/>
              </a:lnSpc>
            </a:pPr>
            <a:r>
              <a:rPr lang="en-US" sz="3519" b="1">
                <a:solidFill>
                  <a:srgbClr val="192027"/>
                </a:solidFill>
                <a:latin typeface="Gotham Bold"/>
                <a:ea typeface="Gotham Bold"/>
                <a:cs typeface="Gotham Bold"/>
                <a:sym typeface="Gotham Bold"/>
              </a:rPr>
              <a:t>Descripción del Proyecto y</a:t>
            </a:r>
            <a:r>
              <a:rPr lang="en-US" sz="3519" b="1">
                <a:solidFill>
                  <a:srgbClr val="059640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</a:p>
          <a:p>
            <a:pPr algn="ctr">
              <a:lnSpc>
                <a:spcPts val="6017"/>
              </a:lnSpc>
              <a:spcBef>
                <a:spcPct val="0"/>
              </a:spcBef>
            </a:pPr>
            <a:r>
              <a:rPr lang="en-US" sz="3519" b="1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Mercado Objetivo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546816" y="3724262"/>
            <a:ext cx="979776" cy="979776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B48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85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6755683" y="3848087"/>
            <a:ext cx="562042" cy="615937"/>
          </a:xfrm>
          <a:custGeom>
            <a:avLst/>
            <a:gdLst/>
            <a:ahLst/>
            <a:cxnLst/>
            <a:rect l="l" t="t" r="r" b="b"/>
            <a:pathLst>
              <a:path w="562042" h="615937">
                <a:moveTo>
                  <a:pt x="0" y="0"/>
                </a:moveTo>
                <a:lnTo>
                  <a:pt x="562042" y="0"/>
                </a:lnTo>
                <a:lnTo>
                  <a:pt x="562042" y="615937"/>
                </a:lnTo>
                <a:lnTo>
                  <a:pt x="0" y="6159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22" name="Group 22"/>
          <p:cNvGrpSpPr/>
          <p:nvPr/>
        </p:nvGrpSpPr>
        <p:grpSpPr>
          <a:xfrm>
            <a:off x="788506" y="4172194"/>
            <a:ext cx="4974819" cy="583660"/>
            <a:chOff x="0" y="0"/>
            <a:chExt cx="1310240" cy="15372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10240" cy="153721"/>
            </a:xfrm>
            <a:custGeom>
              <a:avLst/>
              <a:gdLst/>
              <a:ahLst/>
              <a:cxnLst/>
              <a:rect l="l" t="t" r="r" b="b"/>
              <a:pathLst>
                <a:path w="1310240" h="153721">
                  <a:moveTo>
                    <a:pt x="42018" y="0"/>
                  </a:moveTo>
                  <a:lnTo>
                    <a:pt x="1268222" y="0"/>
                  </a:lnTo>
                  <a:cubicBezTo>
                    <a:pt x="1279366" y="0"/>
                    <a:pt x="1290054" y="4427"/>
                    <a:pt x="1297934" y="12307"/>
                  </a:cubicBezTo>
                  <a:cubicBezTo>
                    <a:pt x="1305814" y="20187"/>
                    <a:pt x="1310240" y="30874"/>
                    <a:pt x="1310240" y="42018"/>
                  </a:cubicBezTo>
                  <a:lnTo>
                    <a:pt x="1310240" y="111703"/>
                  </a:lnTo>
                  <a:cubicBezTo>
                    <a:pt x="1310240" y="134909"/>
                    <a:pt x="1291428" y="153721"/>
                    <a:pt x="1268222" y="153721"/>
                  </a:cubicBezTo>
                  <a:lnTo>
                    <a:pt x="42018" y="153721"/>
                  </a:lnTo>
                  <a:cubicBezTo>
                    <a:pt x="18812" y="153721"/>
                    <a:pt x="0" y="134909"/>
                    <a:pt x="0" y="111703"/>
                  </a:cubicBezTo>
                  <a:lnTo>
                    <a:pt x="0" y="42018"/>
                  </a:lnTo>
                  <a:cubicBezTo>
                    <a:pt x="0" y="18812"/>
                    <a:pt x="18812" y="0"/>
                    <a:pt x="42018" y="0"/>
                  </a:cubicBezTo>
                  <a:close/>
                </a:path>
              </a:pathLst>
            </a:custGeom>
            <a:solidFill>
              <a:srgbClr val="56B48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310240" cy="191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070984" y="4121103"/>
            <a:ext cx="5930380" cy="606391"/>
            <a:chOff x="0" y="0"/>
            <a:chExt cx="1561911" cy="15970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61911" cy="159708"/>
            </a:xfrm>
            <a:custGeom>
              <a:avLst/>
              <a:gdLst/>
              <a:ahLst/>
              <a:cxnLst/>
              <a:rect l="l" t="t" r="r" b="b"/>
              <a:pathLst>
                <a:path w="1561911" h="159708">
                  <a:moveTo>
                    <a:pt x="35248" y="0"/>
                  </a:moveTo>
                  <a:lnTo>
                    <a:pt x="1526663" y="0"/>
                  </a:lnTo>
                  <a:cubicBezTo>
                    <a:pt x="1536011" y="0"/>
                    <a:pt x="1544977" y="3714"/>
                    <a:pt x="1551587" y="10324"/>
                  </a:cubicBezTo>
                  <a:cubicBezTo>
                    <a:pt x="1558197" y="16934"/>
                    <a:pt x="1561911" y="25899"/>
                    <a:pt x="1561911" y="35248"/>
                  </a:cubicBezTo>
                  <a:lnTo>
                    <a:pt x="1561911" y="124460"/>
                  </a:lnTo>
                  <a:cubicBezTo>
                    <a:pt x="1561911" y="133809"/>
                    <a:pt x="1558197" y="142774"/>
                    <a:pt x="1551587" y="149384"/>
                  </a:cubicBezTo>
                  <a:cubicBezTo>
                    <a:pt x="1544977" y="155994"/>
                    <a:pt x="1536011" y="159708"/>
                    <a:pt x="1526663" y="159708"/>
                  </a:cubicBezTo>
                  <a:lnTo>
                    <a:pt x="35248" y="159708"/>
                  </a:lnTo>
                  <a:cubicBezTo>
                    <a:pt x="25899" y="159708"/>
                    <a:pt x="16934" y="155994"/>
                    <a:pt x="10324" y="149384"/>
                  </a:cubicBezTo>
                  <a:cubicBezTo>
                    <a:pt x="3714" y="142774"/>
                    <a:pt x="0" y="133809"/>
                    <a:pt x="0" y="124460"/>
                  </a:cubicBezTo>
                  <a:lnTo>
                    <a:pt x="0" y="35248"/>
                  </a:lnTo>
                  <a:cubicBezTo>
                    <a:pt x="0" y="25899"/>
                    <a:pt x="3714" y="16934"/>
                    <a:pt x="10324" y="10324"/>
                  </a:cubicBezTo>
                  <a:cubicBezTo>
                    <a:pt x="16934" y="3714"/>
                    <a:pt x="25899" y="0"/>
                    <a:pt x="35248" y="0"/>
                  </a:cubicBezTo>
                  <a:close/>
                </a:path>
              </a:pathLst>
            </a:custGeom>
            <a:solidFill>
              <a:srgbClr val="56B48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561911" cy="197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8128075" y="4965744"/>
            <a:ext cx="2693110" cy="2242014"/>
          </a:xfrm>
          <a:custGeom>
            <a:avLst/>
            <a:gdLst/>
            <a:ahLst/>
            <a:cxnLst/>
            <a:rect l="l" t="t" r="r" b="b"/>
            <a:pathLst>
              <a:path w="2693110" h="2242014">
                <a:moveTo>
                  <a:pt x="0" y="0"/>
                </a:moveTo>
                <a:lnTo>
                  <a:pt x="2693111" y="0"/>
                </a:lnTo>
                <a:lnTo>
                  <a:pt x="2693111" y="2242015"/>
                </a:lnTo>
                <a:lnTo>
                  <a:pt x="0" y="22420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9" name="Freeform 29"/>
          <p:cNvSpPr/>
          <p:nvPr/>
        </p:nvSpPr>
        <p:spPr>
          <a:xfrm>
            <a:off x="6217373" y="5758910"/>
            <a:ext cx="1586715" cy="776048"/>
          </a:xfrm>
          <a:custGeom>
            <a:avLst/>
            <a:gdLst/>
            <a:ahLst/>
            <a:cxnLst/>
            <a:rect l="l" t="t" r="r" b="b"/>
            <a:pathLst>
              <a:path w="1586715" h="776048">
                <a:moveTo>
                  <a:pt x="0" y="0"/>
                </a:moveTo>
                <a:lnTo>
                  <a:pt x="1586714" y="0"/>
                </a:lnTo>
                <a:lnTo>
                  <a:pt x="1586714" y="776048"/>
                </a:lnTo>
                <a:lnTo>
                  <a:pt x="0" y="776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0" name="TextBox 30"/>
          <p:cNvSpPr txBox="1"/>
          <p:nvPr/>
        </p:nvSpPr>
        <p:spPr>
          <a:xfrm>
            <a:off x="1523762" y="4262768"/>
            <a:ext cx="3911667" cy="345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1944" b="1" spc="5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PROBLEMATICA ACTUAL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18795" y="4202159"/>
            <a:ext cx="5869205" cy="345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1944" b="1" spc="5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SOLUCION PROPUESTA POR SERVICIO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29525" y="5053425"/>
            <a:ext cx="4763859" cy="670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900" spc="57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Encontrar servicios confiables de manera rápida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65806" y="6044660"/>
            <a:ext cx="4827579" cy="32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900" spc="57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Reducir incertidumbre si contrata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65806" y="6611158"/>
            <a:ext cx="5527992" cy="670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900" spc="57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Centralizar la búsqueda y contratación en una única plataforma</a:t>
            </a:r>
          </a:p>
        </p:txBody>
      </p:sp>
      <p:sp>
        <p:nvSpPr>
          <p:cNvPr id="35" name="Freeform 35"/>
          <p:cNvSpPr/>
          <p:nvPr/>
        </p:nvSpPr>
        <p:spPr>
          <a:xfrm>
            <a:off x="11145036" y="5704261"/>
            <a:ext cx="1586715" cy="776048"/>
          </a:xfrm>
          <a:custGeom>
            <a:avLst/>
            <a:gdLst/>
            <a:ahLst/>
            <a:cxnLst/>
            <a:rect l="l" t="t" r="r" b="b"/>
            <a:pathLst>
              <a:path w="1586715" h="776048">
                <a:moveTo>
                  <a:pt x="0" y="0"/>
                </a:moveTo>
                <a:lnTo>
                  <a:pt x="1586714" y="0"/>
                </a:lnTo>
                <a:lnTo>
                  <a:pt x="1586714" y="776048"/>
                </a:lnTo>
                <a:lnTo>
                  <a:pt x="0" y="776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6" name="TextBox 36"/>
          <p:cNvSpPr txBox="1"/>
          <p:nvPr/>
        </p:nvSpPr>
        <p:spPr>
          <a:xfrm>
            <a:off x="12731750" y="4832269"/>
            <a:ext cx="4763859" cy="32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900" spc="57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Busqueda centralizada de servicios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731750" y="5360081"/>
            <a:ext cx="4763859" cy="32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900" spc="57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Prestadores geolocalizados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826071" y="5959228"/>
            <a:ext cx="4763859" cy="32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900" spc="57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Gestión de disponibilidad y reservas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826071" y="6553715"/>
            <a:ext cx="4763859" cy="670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1900" spc="57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Mayor confianza mediante validación</a:t>
            </a:r>
          </a:p>
          <a:p>
            <a:pPr algn="l">
              <a:lnSpc>
                <a:spcPts val="2774"/>
              </a:lnSpc>
            </a:pPr>
            <a:r>
              <a:rPr lang="en-US" sz="1900" spc="57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y perfiles profesionales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14266" y="1818631"/>
            <a:ext cx="842767" cy="877882"/>
          </a:xfrm>
          <a:custGeom>
            <a:avLst/>
            <a:gdLst/>
            <a:ahLst/>
            <a:cxnLst/>
            <a:rect l="l" t="t" r="r" b="b"/>
            <a:pathLst>
              <a:path w="842767" h="877882">
                <a:moveTo>
                  <a:pt x="0" y="0"/>
                </a:moveTo>
                <a:lnTo>
                  <a:pt x="842768" y="0"/>
                </a:lnTo>
                <a:lnTo>
                  <a:pt x="842768" y="877882"/>
                </a:lnTo>
                <a:lnTo>
                  <a:pt x="0" y="877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1018972" y="2800285"/>
            <a:ext cx="885936" cy="877882"/>
          </a:xfrm>
          <a:custGeom>
            <a:avLst/>
            <a:gdLst/>
            <a:ahLst/>
            <a:cxnLst/>
            <a:rect l="l" t="t" r="r" b="b"/>
            <a:pathLst>
              <a:path w="885936" h="877882">
                <a:moveTo>
                  <a:pt x="0" y="0"/>
                </a:moveTo>
                <a:lnTo>
                  <a:pt x="885936" y="0"/>
                </a:lnTo>
                <a:lnTo>
                  <a:pt x="885936" y="877882"/>
                </a:lnTo>
                <a:lnTo>
                  <a:pt x="0" y="877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240225" y="0"/>
            <a:ext cx="3318637" cy="1028700"/>
          </a:xfrm>
          <a:custGeom>
            <a:avLst/>
            <a:gdLst/>
            <a:ahLst/>
            <a:cxnLst/>
            <a:rect l="l" t="t" r="r" b="b"/>
            <a:pathLst>
              <a:path w="3318637" h="1028700">
                <a:moveTo>
                  <a:pt x="0" y="0"/>
                </a:moveTo>
                <a:lnTo>
                  <a:pt x="3318637" y="0"/>
                </a:lnTo>
                <a:lnTo>
                  <a:pt x="331863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8000"/>
            </a:blip>
            <a:stretch>
              <a:fillRect t="-3607" b="-406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3275916" y="518729"/>
            <a:ext cx="12123396" cy="106080"/>
          </a:xfrm>
          <a:custGeom>
            <a:avLst/>
            <a:gdLst/>
            <a:ahLst/>
            <a:cxnLst/>
            <a:rect l="l" t="t" r="r" b="b"/>
            <a:pathLst>
              <a:path w="12123396" h="106080">
                <a:moveTo>
                  <a:pt x="0" y="0"/>
                </a:moveTo>
                <a:lnTo>
                  <a:pt x="12123396" y="0"/>
                </a:lnTo>
                <a:lnTo>
                  <a:pt x="12123396" y="106079"/>
                </a:lnTo>
                <a:lnTo>
                  <a:pt x="0" y="106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6" name="Group 6"/>
          <p:cNvGrpSpPr/>
          <p:nvPr/>
        </p:nvGrpSpPr>
        <p:grpSpPr>
          <a:xfrm>
            <a:off x="614903" y="1537485"/>
            <a:ext cx="8014700" cy="2497980"/>
            <a:chOff x="0" y="0"/>
            <a:chExt cx="2110867" cy="6579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10867" cy="657904"/>
            </a:xfrm>
            <a:custGeom>
              <a:avLst/>
              <a:gdLst/>
              <a:ahLst/>
              <a:cxnLst/>
              <a:rect l="l" t="t" r="r" b="b"/>
              <a:pathLst>
                <a:path w="2110867" h="657904">
                  <a:moveTo>
                    <a:pt x="0" y="0"/>
                  </a:moveTo>
                  <a:lnTo>
                    <a:pt x="2110867" y="0"/>
                  </a:lnTo>
                  <a:lnTo>
                    <a:pt x="2110867" y="657904"/>
                  </a:lnTo>
                  <a:lnTo>
                    <a:pt x="0" y="657904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ACACAC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110867" cy="7055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96439" y="1930779"/>
            <a:ext cx="1010092" cy="1000258"/>
          </a:xfrm>
          <a:custGeom>
            <a:avLst/>
            <a:gdLst/>
            <a:ahLst/>
            <a:cxnLst/>
            <a:rect l="l" t="t" r="r" b="b"/>
            <a:pathLst>
              <a:path w="1010092" h="1000258">
                <a:moveTo>
                  <a:pt x="0" y="0"/>
                </a:moveTo>
                <a:lnTo>
                  <a:pt x="1010091" y="0"/>
                </a:lnTo>
                <a:lnTo>
                  <a:pt x="1010091" y="1000259"/>
                </a:lnTo>
                <a:lnTo>
                  <a:pt x="0" y="1000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628" t="-24306" r="-16628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0" name="Group 10"/>
          <p:cNvGrpSpPr/>
          <p:nvPr/>
        </p:nvGrpSpPr>
        <p:grpSpPr>
          <a:xfrm>
            <a:off x="9244600" y="1372512"/>
            <a:ext cx="8014700" cy="3412556"/>
            <a:chOff x="0" y="0"/>
            <a:chExt cx="2110867" cy="8987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10867" cy="898780"/>
            </a:xfrm>
            <a:custGeom>
              <a:avLst/>
              <a:gdLst/>
              <a:ahLst/>
              <a:cxnLst/>
              <a:rect l="l" t="t" r="r" b="b"/>
              <a:pathLst>
                <a:path w="2110867" h="898780">
                  <a:moveTo>
                    <a:pt x="0" y="0"/>
                  </a:moveTo>
                  <a:lnTo>
                    <a:pt x="2110867" y="0"/>
                  </a:lnTo>
                  <a:lnTo>
                    <a:pt x="2110867" y="898780"/>
                  </a:lnTo>
                  <a:lnTo>
                    <a:pt x="0" y="898780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ACACAC"/>
              </a:solidFill>
              <a:prstDash val="solid"/>
              <a:miter/>
            </a:ln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110867" cy="946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9314354" y="1703796"/>
            <a:ext cx="627833" cy="748535"/>
          </a:xfrm>
          <a:custGeom>
            <a:avLst/>
            <a:gdLst/>
            <a:ahLst/>
            <a:cxnLst/>
            <a:rect l="l" t="t" r="r" b="b"/>
            <a:pathLst>
              <a:path w="627833" h="748535">
                <a:moveTo>
                  <a:pt x="0" y="0"/>
                </a:moveTo>
                <a:lnTo>
                  <a:pt x="627833" y="0"/>
                </a:lnTo>
                <a:lnTo>
                  <a:pt x="627833" y="748535"/>
                </a:lnTo>
                <a:lnTo>
                  <a:pt x="0" y="7485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10008862" y="2306209"/>
            <a:ext cx="330950" cy="330950"/>
          </a:xfrm>
          <a:custGeom>
            <a:avLst/>
            <a:gdLst/>
            <a:ahLst/>
            <a:cxnLst/>
            <a:rect l="l" t="t" r="r" b="b"/>
            <a:pathLst>
              <a:path w="330950" h="330950">
                <a:moveTo>
                  <a:pt x="0" y="0"/>
                </a:moveTo>
                <a:lnTo>
                  <a:pt x="330950" y="0"/>
                </a:lnTo>
                <a:lnTo>
                  <a:pt x="330950" y="330950"/>
                </a:lnTo>
                <a:lnTo>
                  <a:pt x="0" y="330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676626" y="4187433"/>
            <a:ext cx="7952977" cy="4948587"/>
          </a:xfrm>
          <a:custGeom>
            <a:avLst/>
            <a:gdLst/>
            <a:ahLst/>
            <a:cxnLst/>
            <a:rect l="l" t="t" r="r" b="b"/>
            <a:pathLst>
              <a:path w="7952977" h="4948587">
                <a:moveTo>
                  <a:pt x="0" y="0"/>
                </a:moveTo>
                <a:lnTo>
                  <a:pt x="7952977" y="0"/>
                </a:lnTo>
                <a:lnTo>
                  <a:pt x="7952977" y="4948587"/>
                </a:lnTo>
                <a:lnTo>
                  <a:pt x="0" y="49485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796" r="-20" b="-5424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10037437" y="1894373"/>
            <a:ext cx="6337590" cy="1077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74" spc="53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Desarrollar</a:t>
            </a:r>
            <a:r>
              <a:rPr lang="en-US" sz="1774" spc="53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74" spc="53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una</a:t>
            </a:r>
            <a:r>
              <a:rPr lang="en-US" sz="1774" spc="53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74" spc="53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plataforma</a:t>
            </a:r>
            <a:r>
              <a:rPr lang="en-US" sz="1774" spc="53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74" spc="53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centralizada</a:t>
            </a:r>
            <a:r>
              <a:rPr lang="en-US" sz="1774" spc="53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74" spc="53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que</a:t>
            </a:r>
            <a:r>
              <a:rPr lang="en-US" sz="1774" spc="53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74" spc="53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permita</a:t>
            </a:r>
            <a:r>
              <a:rPr lang="en-US" sz="1774" spc="53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:</a:t>
            </a:r>
          </a:p>
          <a:p>
            <a:pPr algn="l">
              <a:lnSpc>
                <a:spcPts val="3028"/>
              </a:lnSpc>
            </a:pPr>
            <a:endParaRPr lang="en-US" sz="1774" spc="53" dirty="0">
              <a:solidFill>
                <a:srgbClr val="332C2B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3174"/>
              </a:lnSpc>
            </a:pPr>
            <a:endParaRPr lang="en-US" sz="1774" spc="53" dirty="0">
              <a:solidFill>
                <a:srgbClr val="332C2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10008862" y="2800285"/>
            <a:ext cx="330950" cy="330950"/>
          </a:xfrm>
          <a:custGeom>
            <a:avLst/>
            <a:gdLst/>
            <a:ahLst/>
            <a:cxnLst/>
            <a:rect l="l" t="t" r="r" b="b"/>
            <a:pathLst>
              <a:path w="330950" h="330950">
                <a:moveTo>
                  <a:pt x="0" y="0"/>
                </a:moveTo>
                <a:lnTo>
                  <a:pt x="330950" y="0"/>
                </a:lnTo>
                <a:lnTo>
                  <a:pt x="330950" y="330950"/>
                </a:lnTo>
                <a:lnTo>
                  <a:pt x="0" y="330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18"/>
          <p:cNvSpPr/>
          <p:nvPr/>
        </p:nvSpPr>
        <p:spPr>
          <a:xfrm>
            <a:off x="10008862" y="3260596"/>
            <a:ext cx="330950" cy="330950"/>
          </a:xfrm>
          <a:custGeom>
            <a:avLst/>
            <a:gdLst/>
            <a:ahLst/>
            <a:cxnLst/>
            <a:rect l="l" t="t" r="r" b="b"/>
            <a:pathLst>
              <a:path w="330950" h="330950">
                <a:moveTo>
                  <a:pt x="0" y="0"/>
                </a:moveTo>
                <a:lnTo>
                  <a:pt x="330950" y="0"/>
                </a:lnTo>
                <a:lnTo>
                  <a:pt x="330950" y="330949"/>
                </a:lnTo>
                <a:lnTo>
                  <a:pt x="0" y="3309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9" name="Freeform 19"/>
          <p:cNvSpPr/>
          <p:nvPr/>
        </p:nvSpPr>
        <p:spPr>
          <a:xfrm>
            <a:off x="10008862" y="3732101"/>
            <a:ext cx="330950" cy="330950"/>
          </a:xfrm>
          <a:custGeom>
            <a:avLst/>
            <a:gdLst/>
            <a:ahLst/>
            <a:cxnLst/>
            <a:rect l="l" t="t" r="r" b="b"/>
            <a:pathLst>
              <a:path w="330950" h="330950">
                <a:moveTo>
                  <a:pt x="0" y="0"/>
                </a:moveTo>
                <a:lnTo>
                  <a:pt x="330950" y="0"/>
                </a:lnTo>
                <a:lnTo>
                  <a:pt x="330950" y="330950"/>
                </a:lnTo>
                <a:lnTo>
                  <a:pt x="0" y="330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0" name="Freeform 20"/>
          <p:cNvSpPr/>
          <p:nvPr/>
        </p:nvSpPr>
        <p:spPr>
          <a:xfrm>
            <a:off x="10008862" y="4172128"/>
            <a:ext cx="330950" cy="330950"/>
          </a:xfrm>
          <a:custGeom>
            <a:avLst/>
            <a:gdLst/>
            <a:ahLst/>
            <a:cxnLst/>
            <a:rect l="l" t="t" r="r" b="b"/>
            <a:pathLst>
              <a:path w="330950" h="330950">
                <a:moveTo>
                  <a:pt x="0" y="0"/>
                </a:moveTo>
                <a:lnTo>
                  <a:pt x="330950" y="0"/>
                </a:lnTo>
                <a:lnTo>
                  <a:pt x="330950" y="330949"/>
                </a:lnTo>
                <a:lnTo>
                  <a:pt x="0" y="3309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1" name="Freeform 21"/>
          <p:cNvSpPr/>
          <p:nvPr/>
        </p:nvSpPr>
        <p:spPr>
          <a:xfrm>
            <a:off x="9337614" y="5140541"/>
            <a:ext cx="7217514" cy="4487667"/>
          </a:xfrm>
          <a:custGeom>
            <a:avLst/>
            <a:gdLst/>
            <a:ahLst/>
            <a:cxnLst/>
            <a:rect l="l" t="t" r="r" b="b"/>
            <a:pathLst>
              <a:path w="7217514" h="4487667">
                <a:moveTo>
                  <a:pt x="0" y="0"/>
                </a:moveTo>
                <a:lnTo>
                  <a:pt x="7217514" y="0"/>
                </a:lnTo>
                <a:lnTo>
                  <a:pt x="7217514" y="4487667"/>
                </a:lnTo>
                <a:lnTo>
                  <a:pt x="0" y="44876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2122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2" name="TextBox 22"/>
          <p:cNvSpPr txBox="1"/>
          <p:nvPr/>
        </p:nvSpPr>
        <p:spPr>
          <a:xfrm>
            <a:off x="5248152" y="531796"/>
            <a:ext cx="6656755" cy="754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471"/>
              </a:lnSpc>
              <a:spcBef>
                <a:spcPct val="0"/>
              </a:spcBef>
            </a:pPr>
            <a:r>
              <a:rPr lang="en-US" sz="3784" b="1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Problema</a:t>
            </a:r>
            <a:r>
              <a:rPr lang="en-US" sz="3784" b="1" dirty="0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3784" b="1" dirty="0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y </a:t>
            </a:r>
            <a:r>
              <a:rPr lang="en-US" sz="3784" b="1" dirty="0" err="1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Oportunidades</a:t>
            </a:r>
            <a:endParaRPr lang="en-US" sz="3784" b="1" dirty="0">
              <a:solidFill>
                <a:srgbClr val="56B48C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904065" y="1514223"/>
            <a:ext cx="2280800" cy="49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5"/>
              </a:lnSpc>
              <a:spcBef>
                <a:spcPct val="0"/>
              </a:spcBef>
            </a:pPr>
            <a:r>
              <a:rPr lang="en-US" sz="2512" b="1">
                <a:solidFill>
                  <a:srgbClr val="FD5352"/>
                </a:solidFill>
                <a:latin typeface="Gotham Bold"/>
                <a:ea typeface="Gotham Bold"/>
                <a:cs typeface="Gotham Bold"/>
                <a:sym typeface="Gotham Bold"/>
              </a:rPr>
              <a:t>Problema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04065" y="2164403"/>
            <a:ext cx="6476670" cy="202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6" spc="54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Actualmente</a:t>
            </a:r>
            <a:r>
              <a:rPr lang="en-US" sz="1806" spc="54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6" spc="54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muchas</a:t>
            </a:r>
            <a:r>
              <a:rPr lang="en-US" sz="1806" spc="54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personas </a:t>
            </a:r>
            <a:r>
              <a:rPr lang="en-US" sz="1806" spc="54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buscan</a:t>
            </a:r>
            <a:r>
              <a:rPr lang="en-US" sz="1806" spc="54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6" spc="54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Servicios</a:t>
            </a:r>
            <a:r>
              <a:rPr lang="en-US" sz="1806" spc="54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6" spc="54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mediante</a:t>
            </a:r>
            <a:r>
              <a:rPr lang="en-US" sz="1806" spc="54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redes </a:t>
            </a:r>
            <a:r>
              <a:rPr lang="en-US" sz="1806" spc="54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sociales</a:t>
            </a:r>
            <a:r>
              <a:rPr lang="en-US" sz="1806" spc="54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, </a:t>
            </a:r>
            <a:r>
              <a:rPr lang="en-US" sz="1806" spc="54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grupos</a:t>
            </a:r>
            <a:r>
              <a:rPr lang="en-US" sz="1806" spc="54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6" spc="54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comunitarios</a:t>
            </a:r>
            <a:r>
              <a:rPr lang="en-US" sz="1806" spc="54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o </a:t>
            </a:r>
            <a:r>
              <a:rPr lang="en-US" sz="1806" spc="54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recomendaciones</a:t>
            </a:r>
            <a:r>
              <a:rPr lang="en-US" sz="1806" spc="54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6" spc="54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informales</a:t>
            </a:r>
            <a:r>
              <a:rPr lang="en-US" sz="1806" spc="54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, </a:t>
            </a:r>
            <a:r>
              <a:rPr lang="en-US" sz="1806" spc="54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generando</a:t>
            </a:r>
            <a:r>
              <a:rPr lang="en-US" sz="1806" spc="54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6" spc="54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incertidumbre</a:t>
            </a:r>
            <a:r>
              <a:rPr lang="en-US" sz="1806" spc="54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6" spc="54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respecto</a:t>
            </a:r>
            <a:r>
              <a:rPr lang="en-US" sz="1806" spc="54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a la </a:t>
            </a:r>
            <a:r>
              <a:rPr lang="en-US" sz="1806" spc="54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calidad</a:t>
            </a:r>
            <a:r>
              <a:rPr lang="en-US" sz="1806" spc="54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, </a:t>
            </a:r>
            <a:r>
              <a:rPr lang="en-US" sz="1806" spc="54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Disponibilidad</a:t>
            </a:r>
            <a:endParaRPr lang="en-US" sz="1806" spc="54" dirty="0">
              <a:solidFill>
                <a:srgbClr val="332C2B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2637"/>
              </a:lnSpc>
            </a:pPr>
            <a:r>
              <a:rPr lang="en-US" sz="1806" spc="54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confianza de </a:t>
            </a:r>
            <a:r>
              <a:rPr lang="en-US" sz="1806" spc="54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los</a:t>
            </a:r>
            <a:r>
              <a:rPr lang="en-US" sz="1806" spc="54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806" spc="54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prestadores</a:t>
            </a:r>
            <a:r>
              <a:rPr lang="en-US" sz="1806" spc="54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algn="l">
              <a:lnSpc>
                <a:spcPts val="2929"/>
              </a:lnSpc>
            </a:pPr>
            <a:endParaRPr lang="en-US" sz="1806" spc="54" dirty="0">
              <a:solidFill>
                <a:srgbClr val="332C2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942187" y="1361758"/>
            <a:ext cx="2280800" cy="481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412" b="1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Oportunidad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504635" y="2279954"/>
            <a:ext cx="5012826" cy="30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Encontrar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prestadores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cercanos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500293" y="2774029"/>
            <a:ext cx="5012826" cy="30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Ver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disponibilidad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en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tiempo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real.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500293" y="3234340"/>
            <a:ext cx="5012826" cy="30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Gestionar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Reservas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504635" y="3697217"/>
            <a:ext cx="5012826" cy="30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Visualizar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información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perfiles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504635" y="4166403"/>
            <a:ext cx="6754665" cy="30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Mejorar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la confianza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mediante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validación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y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reputación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225" y="0"/>
            <a:ext cx="3318637" cy="1028700"/>
          </a:xfrm>
          <a:custGeom>
            <a:avLst/>
            <a:gdLst/>
            <a:ahLst/>
            <a:cxnLst/>
            <a:rect l="l" t="t" r="r" b="b"/>
            <a:pathLst>
              <a:path w="3318637" h="1028700">
                <a:moveTo>
                  <a:pt x="0" y="0"/>
                </a:moveTo>
                <a:lnTo>
                  <a:pt x="3318637" y="0"/>
                </a:lnTo>
                <a:lnTo>
                  <a:pt x="331863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8000"/>
            </a:blip>
            <a:stretch>
              <a:fillRect t="-3607" b="-406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3275916" y="518729"/>
            <a:ext cx="12123396" cy="106080"/>
          </a:xfrm>
          <a:custGeom>
            <a:avLst/>
            <a:gdLst/>
            <a:ahLst/>
            <a:cxnLst/>
            <a:rect l="l" t="t" r="r" b="b"/>
            <a:pathLst>
              <a:path w="12123396" h="106080">
                <a:moveTo>
                  <a:pt x="0" y="0"/>
                </a:moveTo>
                <a:lnTo>
                  <a:pt x="12123396" y="0"/>
                </a:lnTo>
                <a:lnTo>
                  <a:pt x="12123396" y="106079"/>
                </a:lnTo>
                <a:lnTo>
                  <a:pt x="0" y="106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4233338" y="2034614"/>
            <a:ext cx="10017528" cy="1831261"/>
            <a:chOff x="0" y="0"/>
            <a:chExt cx="2638361" cy="4823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38361" cy="482307"/>
            </a:xfrm>
            <a:custGeom>
              <a:avLst/>
              <a:gdLst/>
              <a:ahLst/>
              <a:cxnLst/>
              <a:rect l="l" t="t" r="r" b="b"/>
              <a:pathLst>
                <a:path w="2638361" h="482307">
                  <a:moveTo>
                    <a:pt x="22412" y="0"/>
                  </a:moveTo>
                  <a:lnTo>
                    <a:pt x="2615949" y="0"/>
                  </a:lnTo>
                  <a:cubicBezTo>
                    <a:pt x="2628327" y="0"/>
                    <a:pt x="2638361" y="10034"/>
                    <a:pt x="2638361" y="22412"/>
                  </a:cubicBezTo>
                  <a:lnTo>
                    <a:pt x="2638361" y="459895"/>
                  </a:lnTo>
                  <a:cubicBezTo>
                    <a:pt x="2638361" y="472273"/>
                    <a:pt x="2628327" y="482307"/>
                    <a:pt x="2615949" y="482307"/>
                  </a:cubicBezTo>
                  <a:lnTo>
                    <a:pt x="22412" y="482307"/>
                  </a:lnTo>
                  <a:cubicBezTo>
                    <a:pt x="10034" y="482307"/>
                    <a:pt x="0" y="472273"/>
                    <a:pt x="0" y="459895"/>
                  </a:cubicBezTo>
                  <a:lnTo>
                    <a:pt x="0" y="22412"/>
                  </a:lnTo>
                  <a:cubicBezTo>
                    <a:pt x="0" y="10034"/>
                    <a:pt x="10034" y="0"/>
                    <a:pt x="22412" y="0"/>
                  </a:cubicBezTo>
                  <a:close/>
                </a:path>
              </a:pathLst>
            </a:custGeom>
            <a:solidFill>
              <a:srgbClr val="059640">
                <a:alpha val="10980"/>
              </a:srgbClr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638361" cy="606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735919" y="2537458"/>
            <a:ext cx="1190992" cy="119099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B48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85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4974442" y="2722561"/>
            <a:ext cx="713946" cy="713946"/>
          </a:xfrm>
          <a:custGeom>
            <a:avLst/>
            <a:gdLst/>
            <a:ahLst/>
            <a:cxnLst/>
            <a:rect l="l" t="t" r="r" b="b"/>
            <a:pathLst>
              <a:path w="713946" h="713946">
                <a:moveTo>
                  <a:pt x="0" y="0"/>
                </a:moveTo>
                <a:lnTo>
                  <a:pt x="713946" y="0"/>
                </a:lnTo>
                <a:lnTo>
                  <a:pt x="713946" y="713946"/>
                </a:lnTo>
                <a:lnTo>
                  <a:pt x="0" y="713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AutoShape 11"/>
          <p:cNvSpPr/>
          <p:nvPr/>
        </p:nvSpPr>
        <p:spPr>
          <a:xfrm>
            <a:off x="1199402" y="4496241"/>
            <a:ext cx="5673582" cy="19050"/>
          </a:xfrm>
          <a:prstGeom prst="line">
            <a:avLst/>
          </a:prstGeom>
          <a:ln w="38100" cap="flat">
            <a:solidFill>
              <a:srgbClr val="56B48C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2" name="AutoShape 12"/>
          <p:cNvSpPr/>
          <p:nvPr/>
        </p:nvSpPr>
        <p:spPr>
          <a:xfrm>
            <a:off x="11551223" y="4499367"/>
            <a:ext cx="5539773" cy="19050"/>
          </a:xfrm>
          <a:prstGeom prst="line">
            <a:avLst/>
          </a:prstGeom>
          <a:ln w="38100" cap="flat">
            <a:solidFill>
              <a:srgbClr val="56B48C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s-CL"/>
          </a:p>
        </p:txBody>
      </p:sp>
      <p:grpSp>
        <p:nvGrpSpPr>
          <p:cNvPr id="13" name="Group 13"/>
          <p:cNvGrpSpPr/>
          <p:nvPr/>
        </p:nvGrpSpPr>
        <p:grpSpPr>
          <a:xfrm>
            <a:off x="1939255" y="5274650"/>
            <a:ext cx="5829653" cy="887406"/>
            <a:chOff x="0" y="0"/>
            <a:chExt cx="1535382" cy="2337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35382" cy="233720"/>
            </a:xfrm>
            <a:custGeom>
              <a:avLst/>
              <a:gdLst/>
              <a:ahLst/>
              <a:cxnLst/>
              <a:rect l="l" t="t" r="r" b="b"/>
              <a:pathLst>
                <a:path w="1535382" h="233720">
                  <a:moveTo>
                    <a:pt x="0" y="0"/>
                  </a:moveTo>
                  <a:lnTo>
                    <a:pt x="1535382" y="0"/>
                  </a:lnTo>
                  <a:lnTo>
                    <a:pt x="1535382" y="233720"/>
                  </a:lnTo>
                  <a:lnTo>
                    <a:pt x="0" y="233720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EAEBEE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535382" cy="28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939255" y="6379550"/>
            <a:ext cx="5829653" cy="887406"/>
            <a:chOff x="0" y="0"/>
            <a:chExt cx="1535382" cy="2337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35382" cy="233720"/>
            </a:xfrm>
            <a:custGeom>
              <a:avLst/>
              <a:gdLst/>
              <a:ahLst/>
              <a:cxnLst/>
              <a:rect l="l" t="t" r="r" b="b"/>
              <a:pathLst>
                <a:path w="1535382" h="233720">
                  <a:moveTo>
                    <a:pt x="0" y="0"/>
                  </a:moveTo>
                  <a:lnTo>
                    <a:pt x="1535382" y="0"/>
                  </a:lnTo>
                  <a:lnTo>
                    <a:pt x="1535382" y="233720"/>
                  </a:lnTo>
                  <a:lnTo>
                    <a:pt x="0" y="233720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EAEBEE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535382" cy="28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939255" y="7486031"/>
            <a:ext cx="5829653" cy="887406"/>
            <a:chOff x="0" y="0"/>
            <a:chExt cx="1535382" cy="2337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35382" cy="233720"/>
            </a:xfrm>
            <a:custGeom>
              <a:avLst/>
              <a:gdLst/>
              <a:ahLst/>
              <a:cxnLst/>
              <a:rect l="l" t="t" r="r" b="b"/>
              <a:pathLst>
                <a:path w="1535382" h="233720">
                  <a:moveTo>
                    <a:pt x="0" y="0"/>
                  </a:moveTo>
                  <a:lnTo>
                    <a:pt x="1535382" y="0"/>
                  </a:lnTo>
                  <a:lnTo>
                    <a:pt x="1535382" y="233720"/>
                  </a:lnTo>
                  <a:lnTo>
                    <a:pt x="0" y="233720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EAEBEE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535382" cy="28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939255" y="8597870"/>
            <a:ext cx="5829653" cy="887406"/>
            <a:chOff x="0" y="0"/>
            <a:chExt cx="1535382" cy="2337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35382" cy="233720"/>
            </a:xfrm>
            <a:custGeom>
              <a:avLst/>
              <a:gdLst/>
              <a:ahLst/>
              <a:cxnLst/>
              <a:rect l="l" t="t" r="r" b="b"/>
              <a:pathLst>
                <a:path w="1535382" h="233720">
                  <a:moveTo>
                    <a:pt x="0" y="0"/>
                  </a:moveTo>
                  <a:lnTo>
                    <a:pt x="1535382" y="0"/>
                  </a:lnTo>
                  <a:lnTo>
                    <a:pt x="1535382" y="233720"/>
                  </a:lnTo>
                  <a:lnTo>
                    <a:pt x="0" y="233720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EAEBEE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535382" cy="28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939255" y="5263544"/>
            <a:ext cx="1043155" cy="887406"/>
            <a:chOff x="0" y="0"/>
            <a:chExt cx="274740" cy="2337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74740" cy="233720"/>
            </a:xfrm>
            <a:custGeom>
              <a:avLst/>
              <a:gdLst/>
              <a:ahLst/>
              <a:cxnLst/>
              <a:rect l="l" t="t" r="r" b="b"/>
              <a:pathLst>
                <a:path w="274740" h="233720">
                  <a:moveTo>
                    <a:pt x="0" y="0"/>
                  </a:moveTo>
                  <a:lnTo>
                    <a:pt x="274740" y="0"/>
                  </a:lnTo>
                  <a:lnTo>
                    <a:pt x="274740" y="233720"/>
                  </a:lnTo>
                  <a:lnTo>
                    <a:pt x="0" y="233720"/>
                  </a:lnTo>
                  <a:close/>
                </a:path>
              </a:pathLst>
            </a:custGeom>
            <a:solidFill>
              <a:srgbClr val="56B48C">
                <a:alpha val="45882"/>
              </a:srgbClr>
            </a:solidFill>
            <a:ln w="28575" cap="sq">
              <a:solidFill>
                <a:srgbClr val="EAEBEE">
                  <a:alpha val="4588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274740" cy="28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939255" y="6380340"/>
            <a:ext cx="1043155" cy="887406"/>
            <a:chOff x="0" y="0"/>
            <a:chExt cx="274740" cy="2337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74740" cy="233720"/>
            </a:xfrm>
            <a:custGeom>
              <a:avLst/>
              <a:gdLst/>
              <a:ahLst/>
              <a:cxnLst/>
              <a:rect l="l" t="t" r="r" b="b"/>
              <a:pathLst>
                <a:path w="274740" h="233720">
                  <a:moveTo>
                    <a:pt x="0" y="0"/>
                  </a:moveTo>
                  <a:lnTo>
                    <a:pt x="274740" y="0"/>
                  </a:lnTo>
                  <a:lnTo>
                    <a:pt x="274740" y="233720"/>
                  </a:lnTo>
                  <a:lnTo>
                    <a:pt x="0" y="233720"/>
                  </a:lnTo>
                  <a:close/>
                </a:path>
              </a:pathLst>
            </a:custGeom>
            <a:solidFill>
              <a:srgbClr val="56B48C">
                <a:alpha val="45882"/>
              </a:srgbClr>
            </a:solidFill>
            <a:ln w="28575" cap="sq">
              <a:solidFill>
                <a:srgbClr val="EAEBEE">
                  <a:alpha val="4588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274740" cy="28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939255" y="7486031"/>
            <a:ext cx="1043155" cy="887406"/>
            <a:chOff x="0" y="0"/>
            <a:chExt cx="274740" cy="2337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74740" cy="233720"/>
            </a:xfrm>
            <a:custGeom>
              <a:avLst/>
              <a:gdLst/>
              <a:ahLst/>
              <a:cxnLst/>
              <a:rect l="l" t="t" r="r" b="b"/>
              <a:pathLst>
                <a:path w="274740" h="233720">
                  <a:moveTo>
                    <a:pt x="0" y="0"/>
                  </a:moveTo>
                  <a:lnTo>
                    <a:pt x="274740" y="0"/>
                  </a:lnTo>
                  <a:lnTo>
                    <a:pt x="274740" y="233720"/>
                  </a:lnTo>
                  <a:lnTo>
                    <a:pt x="0" y="233720"/>
                  </a:lnTo>
                  <a:close/>
                </a:path>
              </a:pathLst>
            </a:custGeom>
            <a:solidFill>
              <a:srgbClr val="56B48C">
                <a:alpha val="45882"/>
              </a:srgbClr>
            </a:solidFill>
            <a:ln w="28575" cap="sq">
              <a:solidFill>
                <a:srgbClr val="EAEBEE">
                  <a:alpha val="4588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274740" cy="28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939255" y="8602036"/>
            <a:ext cx="1043155" cy="887406"/>
            <a:chOff x="0" y="0"/>
            <a:chExt cx="274740" cy="2337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74740" cy="233720"/>
            </a:xfrm>
            <a:custGeom>
              <a:avLst/>
              <a:gdLst/>
              <a:ahLst/>
              <a:cxnLst/>
              <a:rect l="l" t="t" r="r" b="b"/>
              <a:pathLst>
                <a:path w="274740" h="233720">
                  <a:moveTo>
                    <a:pt x="0" y="0"/>
                  </a:moveTo>
                  <a:lnTo>
                    <a:pt x="274740" y="0"/>
                  </a:lnTo>
                  <a:lnTo>
                    <a:pt x="274740" y="233720"/>
                  </a:lnTo>
                  <a:lnTo>
                    <a:pt x="0" y="233720"/>
                  </a:lnTo>
                  <a:close/>
                </a:path>
              </a:pathLst>
            </a:custGeom>
            <a:solidFill>
              <a:srgbClr val="56B48C">
                <a:alpha val="45882"/>
              </a:srgbClr>
            </a:solidFill>
            <a:ln w="28575" cap="sq">
              <a:solidFill>
                <a:srgbClr val="EAEBEE">
                  <a:alpha val="4588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274740" cy="28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37" name="Freeform 37"/>
          <p:cNvSpPr/>
          <p:nvPr/>
        </p:nvSpPr>
        <p:spPr>
          <a:xfrm>
            <a:off x="2098144" y="5399869"/>
            <a:ext cx="725376" cy="614756"/>
          </a:xfrm>
          <a:custGeom>
            <a:avLst/>
            <a:gdLst/>
            <a:ahLst/>
            <a:cxnLst/>
            <a:rect l="l" t="t" r="r" b="b"/>
            <a:pathLst>
              <a:path w="725376" h="614756">
                <a:moveTo>
                  <a:pt x="0" y="0"/>
                </a:moveTo>
                <a:lnTo>
                  <a:pt x="725376" y="0"/>
                </a:lnTo>
                <a:lnTo>
                  <a:pt x="725376" y="614756"/>
                </a:lnTo>
                <a:lnTo>
                  <a:pt x="0" y="614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8" name="Freeform 38"/>
          <p:cNvSpPr/>
          <p:nvPr/>
        </p:nvSpPr>
        <p:spPr>
          <a:xfrm>
            <a:off x="2174536" y="6515897"/>
            <a:ext cx="572592" cy="614712"/>
          </a:xfrm>
          <a:custGeom>
            <a:avLst/>
            <a:gdLst/>
            <a:ahLst/>
            <a:cxnLst/>
            <a:rect l="l" t="t" r="r" b="b"/>
            <a:pathLst>
              <a:path w="572592" h="614712">
                <a:moveTo>
                  <a:pt x="0" y="0"/>
                </a:moveTo>
                <a:lnTo>
                  <a:pt x="572592" y="0"/>
                </a:lnTo>
                <a:lnTo>
                  <a:pt x="572592" y="614712"/>
                </a:lnTo>
                <a:lnTo>
                  <a:pt x="0" y="614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9" name="Freeform 39"/>
          <p:cNvSpPr/>
          <p:nvPr/>
        </p:nvSpPr>
        <p:spPr>
          <a:xfrm>
            <a:off x="2110490" y="7643437"/>
            <a:ext cx="636638" cy="636638"/>
          </a:xfrm>
          <a:custGeom>
            <a:avLst/>
            <a:gdLst/>
            <a:ahLst/>
            <a:cxnLst/>
            <a:rect l="l" t="t" r="r" b="b"/>
            <a:pathLst>
              <a:path w="636638" h="636638">
                <a:moveTo>
                  <a:pt x="0" y="0"/>
                </a:moveTo>
                <a:lnTo>
                  <a:pt x="636638" y="0"/>
                </a:lnTo>
                <a:lnTo>
                  <a:pt x="636638" y="636638"/>
                </a:lnTo>
                <a:lnTo>
                  <a:pt x="0" y="6366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0" name="Freeform 40"/>
          <p:cNvSpPr/>
          <p:nvPr/>
        </p:nvSpPr>
        <p:spPr>
          <a:xfrm>
            <a:off x="2191348" y="8754436"/>
            <a:ext cx="511967" cy="649086"/>
          </a:xfrm>
          <a:custGeom>
            <a:avLst/>
            <a:gdLst/>
            <a:ahLst/>
            <a:cxnLst/>
            <a:rect l="l" t="t" r="r" b="b"/>
            <a:pathLst>
              <a:path w="511967" h="649086">
                <a:moveTo>
                  <a:pt x="0" y="0"/>
                </a:moveTo>
                <a:lnTo>
                  <a:pt x="511967" y="0"/>
                </a:lnTo>
                <a:lnTo>
                  <a:pt x="511967" y="649087"/>
                </a:lnTo>
                <a:lnTo>
                  <a:pt x="0" y="649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1" name="Freeform 41"/>
          <p:cNvSpPr/>
          <p:nvPr/>
        </p:nvSpPr>
        <p:spPr>
          <a:xfrm>
            <a:off x="3134809" y="5503210"/>
            <a:ext cx="430285" cy="430285"/>
          </a:xfrm>
          <a:custGeom>
            <a:avLst/>
            <a:gdLst/>
            <a:ahLst/>
            <a:cxnLst/>
            <a:rect l="l" t="t" r="r" b="b"/>
            <a:pathLst>
              <a:path w="430285" h="430285">
                <a:moveTo>
                  <a:pt x="0" y="0"/>
                </a:moveTo>
                <a:lnTo>
                  <a:pt x="430285" y="0"/>
                </a:lnTo>
                <a:lnTo>
                  <a:pt x="430285" y="430285"/>
                </a:lnTo>
                <a:lnTo>
                  <a:pt x="0" y="4302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2" name="Freeform 42"/>
          <p:cNvSpPr/>
          <p:nvPr/>
        </p:nvSpPr>
        <p:spPr>
          <a:xfrm>
            <a:off x="3134809" y="6608110"/>
            <a:ext cx="430285" cy="430285"/>
          </a:xfrm>
          <a:custGeom>
            <a:avLst/>
            <a:gdLst/>
            <a:ahLst/>
            <a:cxnLst/>
            <a:rect l="l" t="t" r="r" b="b"/>
            <a:pathLst>
              <a:path w="430285" h="430285">
                <a:moveTo>
                  <a:pt x="0" y="0"/>
                </a:moveTo>
                <a:lnTo>
                  <a:pt x="430285" y="0"/>
                </a:lnTo>
                <a:lnTo>
                  <a:pt x="430285" y="430285"/>
                </a:lnTo>
                <a:lnTo>
                  <a:pt x="0" y="4302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3" name="Freeform 43"/>
          <p:cNvSpPr/>
          <p:nvPr/>
        </p:nvSpPr>
        <p:spPr>
          <a:xfrm>
            <a:off x="3134809" y="7746614"/>
            <a:ext cx="430285" cy="430285"/>
          </a:xfrm>
          <a:custGeom>
            <a:avLst/>
            <a:gdLst/>
            <a:ahLst/>
            <a:cxnLst/>
            <a:rect l="l" t="t" r="r" b="b"/>
            <a:pathLst>
              <a:path w="430285" h="430285">
                <a:moveTo>
                  <a:pt x="0" y="0"/>
                </a:moveTo>
                <a:lnTo>
                  <a:pt x="430285" y="0"/>
                </a:lnTo>
                <a:lnTo>
                  <a:pt x="430285" y="430285"/>
                </a:lnTo>
                <a:lnTo>
                  <a:pt x="0" y="4302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4" name="Freeform 44"/>
          <p:cNvSpPr/>
          <p:nvPr/>
        </p:nvSpPr>
        <p:spPr>
          <a:xfrm>
            <a:off x="3134809" y="8863837"/>
            <a:ext cx="430285" cy="430285"/>
          </a:xfrm>
          <a:custGeom>
            <a:avLst/>
            <a:gdLst/>
            <a:ahLst/>
            <a:cxnLst/>
            <a:rect l="l" t="t" r="r" b="b"/>
            <a:pathLst>
              <a:path w="430285" h="430285">
                <a:moveTo>
                  <a:pt x="0" y="0"/>
                </a:moveTo>
                <a:lnTo>
                  <a:pt x="430285" y="0"/>
                </a:lnTo>
                <a:lnTo>
                  <a:pt x="430285" y="430285"/>
                </a:lnTo>
                <a:lnTo>
                  <a:pt x="0" y="4302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5" name="Group 45"/>
          <p:cNvGrpSpPr/>
          <p:nvPr/>
        </p:nvGrpSpPr>
        <p:grpSpPr>
          <a:xfrm>
            <a:off x="9866175" y="5278816"/>
            <a:ext cx="6059624" cy="887406"/>
            <a:chOff x="0" y="0"/>
            <a:chExt cx="1535382" cy="2337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535382" cy="233720"/>
            </a:xfrm>
            <a:custGeom>
              <a:avLst/>
              <a:gdLst/>
              <a:ahLst/>
              <a:cxnLst/>
              <a:rect l="l" t="t" r="r" b="b"/>
              <a:pathLst>
                <a:path w="1535382" h="233720">
                  <a:moveTo>
                    <a:pt x="0" y="0"/>
                  </a:moveTo>
                  <a:lnTo>
                    <a:pt x="1535382" y="0"/>
                  </a:lnTo>
                  <a:lnTo>
                    <a:pt x="1535382" y="233720"/>
                  </a:lnTo>
                  <a:lnTo>
                    <a:pt x="0" y="233720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EAEBEE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1535382" cy="28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866175" y="6397065"/>
            <a:ext cx="6059625" cy="969947"/>
            <a:chOff x="0" y="0"/>
            <a:chExt cx="1535382" cy="23372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535382" cy="233720"/>
            </a:xfrm>
            <a:custGeom>
              <a:avLst/>
              <a:gdLst/>
              <a:ahLst/>
              <a:cxnLst/>
              <a:rect l="l" t="t" r="r" b="b"/>
              <a:pathLst>
                <a:path w="1535382" h="233720">
                  <a:moveTo>
                    <a:pt x="0" y="0"/>
                  </a:moveTo>
                  <a:lnTo>
                    <a:pt x="1535382" y="0"/>
                  </a:lnTo>
                  <a:lnTo>
                    <a:pt x="1535382" y="233720"/>
                  </a:lnTo>
                  <a:lnTo>
                    <a:pt x="0" y="233720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EAEBEE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1535382" cy="28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866175" y="7575005"/>
            <a:ext cx="6059624" cy="1177688"/>
            <a:chOff x="0" y="0"/>
            <a:chExt cx="1535382" cy="2337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535382" cy="233720"/>
            </a:xfrm>
            <a:custGeom>
              <a:avLst/>
              <a:gdLst/>
              <a:ahLst/>
              <a:cxnLst/>
              <a:rect l="l" t="t" r="r" b="b"/>
              <a:pathLst>
                <a:path w="1535382" h="233720">
                  <a:moveTo>
                    <a:pt x="0" y="0"/>
                  </a:moveTo>
                  <a:lnTo>
                    <a:pt x="1535382" y="0"/>
                  </a:lnTo>
                  <a:lnTo>
                    <a:pt x="1535382" y="233720"/>
                  </a:lnTo>
                  <a:lnTo>
                    <a:pt x="0" y="233720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EAEBEE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1535382" cy="28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866175" y="5267711"/>
            <a:ext cx="1043155" cy="887406"/>
            <a:chOff x="0" y="0"/>
            <a:chExt cx="274740" cy="23372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74740" cy="233720"/>
            </a:xfrm>
            <a:custGeom>
              <a:avLst/>
              <a:gdLst/>
              <a:ahLst/>
              <a:cxnLst/>
              <a:rect l="l" t="t" r="r" b="b"/>
              <a:pathLst>
                <a:path w="274740" h="233720">
                  <a:moveTo>
                    <a:pt x="0" y="0"/>
                  </a:moveTo>
                  <a:lnTo>
                    <a:pt x="274740" y="0"/>
                  </a:lnTo>
                  <a:lnTo>
                    <a:pt x="274740" y="233720"/>
                  </a:lnTo>
                  <a:lnTo>
                    <a:pt x="0" y="233720"/>
                  </a:lnTo>
                  <a:close/>
                </a:path>
              </a:pathLst>
            </a:custGeom>
            <a:solidFill>
              <a:srgbClr val="56B48C">
                <a:alpha val="45882"/>
              </a:srgbClr>
            </a:solidFill>
            <a:ln w="28575" cap="sq">
              <a:solidFill>
                <a:srgbClr val="EAEBEE">
                  <a:alpha val="4588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274740" cy="28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868315" y="6372497"/>
            <a:ext cx="1043155" cy="1038818"/>
            <a:chOff x="0" y="0"/>
            <a:chExt cx="274740" cy="23372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74740" cy="233720"/>
            </a:xfrm>
            <a:custGeom>
              <a:avLst/>
              <a:gdLst/>
              <a:ahLst/>
              <a:cxnLst/>
              <a:rect l="l" t="t" r="r" b="b"/>
              <a:pathLst>
                <a:path w="274740" h="233720">
                  <a:moveTo>
                    <a:pt x="0" y="0"/>
                  </a:moveTo>
                  <a:lnTo>
                    <a:pt x="274740" y="0"/>
                  </a:lnTo>
                  <a:lnTo>
                    <a:pt x="274740" y="233720"/>
                  </a:lnTo>
                  <a:lnTo>
                    <a:pt x="0" y="233720"/>
                  </a:lnTo>
                  <a:close/>
                </a:path>
              </a:pathLst>
            </a:custGeom>
            <a:solidFill>
              <a:srgbClr val="56B48C">
                <a:alpha val="45882"/>
              </a:srgbClr>
            </a:solidFill>
            <a:ln w="28575" cap="sq">
              <a:solidFill>
                <a:srgbClr val="EAEBEE">
                  <a:alpha val="4588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47625"/>
              <a:ext cx="274740" cy="28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881761" y="7564658"/>
            <a:ext cx="1043155" cy="1188034"/>
            <a:chOff x="0" y="0"/>
            <a:chExt cx="274740" cy="23372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74740" cy="233720"/>
            </a:xfrm>
            <a:custGeom>
              <a:avLst/>
              <a:gdLst/>
              <a:ahLst/>
              <a:cxnLst/>
              <a:rect l="l" t="t" r="r" b="b"/>
              <a:pathLst>
                <a:path w="274740" h="233720">
                  <a:moveTo>
                    <a:pt x="0" y="0"/>
                  </a:moveTo>
                  <a:lnTo>
                    <a:pt x="274740" y="0"/>
                  </a:lnTo>
                  <a:lnTo>
                    <a:pt x="274740" y="233720"/>
                  </a:lnTo>
                  <a:lnTo>
                    <a:pt x="0" y="233720"/>
                  </a:lnTo>
                  <a:close/>
                </a:path>
              </a:pathLst>
            </a:custGeom>
            <a:solidFill>
              <a:srgbClr val="56B48C">
                <a:alpha val="45882"/>
              </a:srgbClr>
            </a:solidFill>
            <a:ln w="28575" cap="sq">
              <a:solidFill>
                <a:srgbClr val="EAEBEE">
                  <a:alpha val="4588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47625"/>
              <a:ext cx="274740" cy="28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63" name="Freeform 63"/>
          <p:cNvSpPr/>
          <p:nvPr/>
        </p:nvSpPr>
        <p:spPr>
          <a:xfrm>
            <a:off x="11061730" y="5507377"/>
            <a:ext cx="430285" cy="430285"/>
          </a:xfrm>
          <a:custGeom>
            <a:avLst/>
            <a:gdLst/>
            <a:ahLst/>
            <a:cxnLst/>
            <a:rect l="l" t="t" r="r" b="b"/>
            <a:pathLst>
              <a:path w="430285" h="430285">
                <a:moveTo>
                  <a:pt x="0" y="0"/>
                </a:moveTo>
                <a:lnTo>
                  <a:pt x="430285" y="0"/>
                </a:lnTo>
                <a:lnTo>
                  <a:pt x="430285" y="430285"/>
                </a:lnTo>
                <a:lnTo>
                  <a:pt x="0" y="4302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4" name="Freeform 64"/>
          <p:cNvSpPr/>
          <p:nvPr/>
        </p:nvSpPr>
        <p:spPr>
          <a:xfrm>
            <a:off x="11061730" y="6612277"/>
            <a:ext cx="430285" cy="430285"/>
          </a:xfrm>
          <a:custGeom>
            <a:avLst/>
            <a:gdLst/>
            <a:ahLst/>
            <a:cxnLst/>
            <a:rect l="l" t="t" r="r" b="b"/>
            <a:pathLst>
              <a:path w="430285" h="430285">
                <a:moveTo>
                  <a:pt x="0" y="0"/>
                </a:moveTo>
                <a:lnTo>
                  <a:pt x="430285" y="0"/>
                </a:lnTo>
                <a:lnTo>
                  <a:pt x="430285" y="430285"/>
                </a:lnTo>
                <a:lnTo>
                  <a:pt x="0" y="4302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5" name="Freeform 65"/>
          <p:cNvSpPr/>
          <p:nvPr/>
        </p:nvSpPr>
        <p:spPr>
          <a:xfrm>
            <a:off x="11061730" y="7835588"/>
            <a:ext cx="430285" cy="430285"/>
          </a:xfrm>
          <a:custGeom>
            <a:avLst/>
            <a:gdLst/>
            <a:ahLst/>
            <a:cxnLst/>
            <a:rect l="l" t="t" r="r" b="b"/>
            <a:pathLst>
              <a:path w="430285" h="430285">
                <a:moveTo>
                  <a:pt x="0" y="0"/>
                </a:moveTo>
                <a:lnTo>
                  <a:pt x="430285" y="0"/>
                </a:lnTo>
                <a:lnTo>
                  <a:pt x="430285" y="430285"/>
                </a:lnTo>
                <a:lnTo>
                  <a:pt x="0" y="4302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6" name="Freeform 66"/>
          <p:cNvSpPr/>
          <p:nvPr/>
        </p:nvSpPr>
        <p:spPr>
          <a:xfrm>
            <a:off x="10145176" y="5363346"/>
            <a:ext cx="485152" cy="687802"/>
          </a:xfrm>
          <a:custGeom>
            <a:avLst/>
            <a:gdLst/>
            <a:ahLst/>
            <a:cxnLst/>
            <a:rect l="l" t="t" r="r" b="b"/>
            <a:pathLst>
              <a:path w="485152" h="687802">
                <a:moveTo>
                  <a:pt x="0" y="0"/>
                </a:moveTo>
                <a:lnTo>
                  <a:pt x="485153" y="0"/>
                </a:lnTo>
                <a:lnTo>
                  <a:pt x="485153" y="687802"/>
                </a:lnTo>
                <a:lnTo>
                  <a:pt x="0" y="6878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7" name="Freeform 67"/>
          <p:cNvSpPr/>
          <p:nvPr/>
        </p:nvSpPr>
        <p:spPr>
          <a:xfrm>
            <a:off x="10082952" y="651589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8" name="Freeform 68"/>
          <p:cNvSpPr/>
          <p:nvPr/>
        </p:nvSpPr>
        <p:spPr>
          <a:xfrm>
            <a:off x="9905886" y="7656756"/>
            <a:ext cx="963732" cy="715571"/>
          </a:xfrm>
          <a:custGeom>
            <a:avLst/>
            <a:gdLst/>
            <a:ahLst/>
            <a:cxnLst/>
            <a:rect l="l" t="t" r="r" b="b"/>
            <a:pathLst>
              <a:path w="963732" h="715571">
                <a:moveTo>
                  <a:pt x="0" y="0"/>
                </a:moveTo>
                <a:lnTo>
                  <a:pt x="963732" y="0"/>
                </a:lnTo>
                <a:lnTo>
                  <a:pt x="963732" y="715571"/>
                </a:lnTo>
                <a:lnTo>
                  <a:pt x="0" y="7155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9" name="TextBox 69"/>
          <p:cNvSpPr txBox="1"/>
          <p:nvPr/>
        </p:nvSpPr>
        <p:spPr>
          <a:xfrm>
            <a:off x="6614217" y="895498"/>
            <a:ext cx="5539085" cy="754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71"/>
              </a:lnSpc>
              <a:spcBef>
                <a:spcPct val="0"/>
              </a:spcBef>
            </a:pPr>
            <a:r>
              <a:rPr lang="en-US" sz="3784" b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Objetivo </a:t>
            </a:r>
            <a:r>
              <a:rPr lang="en-US" sz="3784" b="1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del Proyecto</a:t>
            </a:r>
            <a:r>
              <a:rPr lang="en-US" sz="3784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304497" y="2115781"/>
            <a:ext cx="3398193" cy="606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3"/>
              </a:lnSpc>
              <a:spcBef>
                <a:spcPct val="0"/>
              </a:spcBef>
            </a:pPr>
            <a:r>
              <a:rPr lang="en-US" sz="2984" b="1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Objetivo General</a:t>
            </a:r>
            <a:r>
              <a:rPr lang="en-US" sz="2984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094612" y="2823745"/>
            <a:ext cx="7638720" cy="654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6" b="1" spc="54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Facilitar</a:t>
            </a:r>
            <a:r>
              <a:rPr lang="en-US" sz="1806" b="1" spc="54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la </a:t>
            </a:r>
            <a:r>
              <a:rPr lang="en-US" sz="1806" b="1" spc="54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contratación</a:t>
            </a:r>
            <a:r>
              <a:rPr lang="en-US" sz="1806" b="1" spc="54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1806" b="1" spc="54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segura</a:t>
            </a:r>
            <a:r>
              <a:rPr lang="en-US" sz="1806" b="1" spc="54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y </a:t>
            </a:r>
            <a:r>
              <a:rPr lang="en-US" sz="1806" b="1" spc="54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eficiente</a:t>
            </a:r>
            <a:r>
              <a:rPr lang="en-US" sz="1806" b="1" spc="54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de </a:t>
            </a:r>
            <a:r>
              <a:rPr lang="en-US" sz="1806" b="1" spc="54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servicios</a:t>
            </a:r>
            <a:r>
              <a:rPr lang="en-US" sz="1806" b="1" spc="54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1806" b="1" spc="54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profesionales</a:t>
            </a:r>
            <a:r>
              <a:rPr lang="en-US" sz="1806" b="1" spc="54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1806" b="1" spc="54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mediante</a:t>
            </a:r>
            <a:r>
              <a:rPr lang="en-US" sz="1806" b="1" spc="54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1806" b="1" spc="54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una</a:t>
            </a:r>
            <a:r>
              <a:rPr lang="en-US" sz="1806" b="1" spc="54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1806" b="1" spc="54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plataforma</a:t>
            </a:r>
            <a:r>
              <a:rPr lang="en-US" sz="1806" b="1" spc="54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digital </a:t>
            </a:r>
            <a:r>
              <a:rPr lang="en-US" sz="1806" b="1" spc="54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centralizada</a:t>
            </a:r>
            <a:r>
              <a:rPr lang="en-US" sz="1806" b="1" spc="54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.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168324" y="4097601"/>
            <a:ext cx="4083844" cy="606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3"/>
              </a:lnSpc>
              <a:spcBef>
                <a:spcPct val="0"/>
              </a:spcBef>
            </a:pPr>
            <a:r>
              <a:rPr lang="en-US" sz="2984" b="1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Objetivo Especificos</a:t>
            </a:r>
            <a:r>
              <a:rPr lang="en-US" sz="2984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3717494" y="5418366"/>
            <a:ext cx="4177836" cy="732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5"/>
              </a:lnSpc>
            </a:pPr>
            <a:r>
              <a:rPr lang="en-US" sz="2044" spc="6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Gestionar usuarios mediante roles.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717494" y="6524847"/>
            <a:ext cx="4177836" cy="732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5"/>
              </a:lnSpc>
            </a:pPr>
            <a:r>
              <a:rPr lang="en-US" sz="2044" spc="6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Permitir la publicación de servicios.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654283" y="7648945"/>
            <a:ext cx="4177836" cy="732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5"/>
              </a:lnSpc>
            </a:pPr>
            <a:r>
              <a:rPr lang="en-US" sz="2044" spc="61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Gestionar</a:t>
            </a:r>
            <a:r>
              <a:rPr lang="en-US" sz="2044" spc="61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solicitudes y </a:t>
            </a:r>
            <a:r>
              <a:rPr lang="en-US" sz="2044" spc="61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reservas</a:t>
            </a:r>
            <a:r>
              <a:rPr lang="en-US" sz="2044" spc="61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717494" y="8752692"/>
            <a:ext cx="4177836" cy="732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5"/>
              </a:lnSpc>
            </a:pPr>
            <a:r>
              <a:rPr lang="en-US" sz="2044" spc="61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Incorporar</a:t>
            </a:r>
            <a:r>
              <a:rPr lang="en-US" sz="2044" spc="61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044" spc="61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validación</a:t>
            </a:r>
            <a:r>
              <a:rPr lang="en-US" sz="2044" spc="61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044" spc="61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biométrica</a:t>
            </a:r>
            <a:r>
              <a:rPr lang="en-US" sz="2044" spc="61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1644415" y="5422532"/>
            <a:ext cx="4281384" cy="7325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85"/>
              </a:lnSpc>
            </a:pPr>
            <a:r>
              <a:rPr lang="en-US" sz="2044" spc="61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Implementación</a:t>
            </a:r>
            <a:r>
              <a:rPr lang="en-US" sz="2044" spc="61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044" spc="61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geolocalización</a:t>
            </a:r>
            <a:r>
              <a:rPr lang="en-US" sz="2044" spc="61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2044" spc="61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servicios</a:t>
            </a:r>
            <a:r>
              <a:rPr lang="en-US" sz="2044" spc="61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1569151" y="6460797"/>
            <a:ext cx="4253099" cy="7361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85"/>
              </a:lnSpc>
            </a:pPr>
            <a:r>
              <a:rPr lang="en-US" sz="2044" spc="61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Administrar</a:t>
            </a:r>
            <a:r>
              <a:rPr lang="en-US" sz="2044" spc="61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044" spc="61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información</a:t>
            </a:r>
            <a:r>
              <a:rPr lang="en-US" sz="2044" spc="61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044" spc="61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desde</a:t>
            </a:r>
            <a:r>
              <a:rPr lang="en-US" sz="2044" spc="61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un panel </a:t>
            </a:r>
            <a:r>
              <a:rPr lang="en-US" sz="2044" spc="61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administrativo</a:t>
            </a:r>
            <a:r>
              <a:rPr lang="en-US" sz="2044" spc="61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1657860" y="7576112"/>
            <a:ext cx="4281385" cy="11208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85"/>
              </a:lnSpc>
            </a:pPr>
            <a:r>
              <a:rPr lang="en-US" sz="2044" spc="61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Mejorar</a:t>
            </a:r>
            <a:r>
              <a:rPr lang="en-US" sz="2044" spc="61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la </a:t>
            </a:r>
            <a:r>
              <a:rPr lang="en-US" sz="2044" spc="61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experiencia</a:t>
            </a:r>
            <a:r>
              <a:rPr lang="en-US" sz="2044" spc="61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2044" spc="61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contratación</a:t>
            </a:r>
            <a:r>
              <a:rPr lang="en-US" sz="2044" spc="61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entre </a:t>
            </a:r>
            <a:r>
              <a:rPr lang="en-US" sz="2044" spc="61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clientes</a:t>
            </a:r>
            <a:r>
              <a:rPr lang="en-US" sz="2044" spc="61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y </a:t>
            </a:r>
            <a:r>
              <a:rPr lang="en-US" sz="2044" spc="61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prestadores</a:t>
            </a:r>
            <a:r>
              <a:rPr lang="en-US" sz="2044" spc="61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225" y="0"/>
            <a:ext cx="3318637" cy="1028700"/>
          </a:xfrm>
          <a:custGeom>
            <a:avLst/>
            <a:gdLst/>
            <a:ahLst/>
            <a:cxnLst/>
            <a:rect l="l" t="t" r="r" b="b"/>
            <a:pathLst>
              <a:path w="3318637" h="1028700">
                <a:moveTo>
                  <a:pt x="0" y="0"/>
                </a:moveTo>
                <a:lnTo>
                  <a:pt x="3318637" y="0"/>
                </a:lnTo>
                <a:lnTo>
                  <a:pt x="331863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8000"/>
            </a:blip>
            <a:stretch>
              <a:fillRect t="-3607" b="-406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3275916" y="518729"/>
            <a:ext cx="12123396" cy="106080"/>
          </a:xfrm>
          <a:custGeom>
            <a:avLst/>
            <a:gdLst/>
            <a:ahLst/>
            <a:cxnLst/>
            <a:rect l="l" t="t" r="r" b="b"/>
            <a:pathLst>
              <a:path w="12123396" h="106080">
                <a:moveTo>
                  <a:pt x="0" y="0"/>
                </a:moveTo>
                <a:lnTo>
                  <a:pt x="12123396" y="0"/>
                </a:lnTo>
                <a:lnTo>
                  <a:pt x="12123396" y="106079"/>
                </a:lnTo>
                <a:lnTo>
                  <a:pt x="0" y="106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5069565" y="1446447"/>
            <a:ext cx="9287024" cy="754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71"/>
              </a:lnSpc>
              <a:spcBef>
                <a:spcPct val="0"/>
              </a:spcBef>
            </a:pPr>
            <a:r>
              <a:rPr lang="en-US" sz="3784" b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Alcances y Limitaciones </a:t>
            </a:r>
            <a:r>
              <a:rPr lang="en-US" sz="3784" b="1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del Proyecto</a:t>
            </a:r>
            <a:r>
              <a:rPr lang="en-US" sz="3784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136372" y="3070103"/>
            <a:ext cx="6344410" cy="765634"/>
            <a:chOff x="0" y="0"/>
            <a:chExt cx="1670956" cy="201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70956" cy="201648"/>
            </a:xfrm>
            <a:custGeom>
              <a:avLst/>
              <a:gdLst/>
              <a:ahLst/>
              <a:cxnLst/>
              <a:rect l="l" t="t" r="r" b="b"/>
              <a:pathLst>
                <a:path w="1670956" h="201648">
                  <a:moveTo>
                    <a:pt x="32947" y="0"/>
                  </a:moveTo>
                  <a:lnTo>
                    <a:pt x="1638008" y="0"/>
                  </a:lnTo>
                  <a:cubicBezTo>
                    <a:pt x="1656205" y="0"/>
                    <a:pt x="1670956" y="14751"/>
                    <a:pt x="1670956" y="32947"/>
                  </a:cubicBezTo>
                  <a:lnTo>
                    <a:pt x="1670956" y="168701"/>
                  </a:lnTo>
                  <a:cubicBezTo>
                    <a:pt x="1670956" y="186897"/>
                    <a:pt x="1656205" y="201648"/>
                    <a:pt x="1638008" y="201648"/>
                  </a:cubicBezTo>
                  <a:lnTo>
                    <a:pt x="32947" y="201648"/>
                  </a:lnTo>
                  <a:cubicBezTo>
                    <a:pt x="14751" y="201648"/>
                    <a:pt x="0" y="186897"/>
                    <a:pt x="0" y="168701"/>
                  </a:cubicBezTo>
                  <a:lnTo>
                    <a:pt x="0" y="32947"/>
                  </a:lnTo>
                  <a:cubicBezTo>
                    <a:pt x="0" y="14751"/>
                    <a:pt x="14751" y="0"/>
                    <a:pt x="32947" y="0"/>
                  </a:cubicBezTo>
                  <a:close/>
                </a:path>
              </a:pathLst>
            </a:custGeom>
            <a:solidFill>
              <a:srgbClr val="56B48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70956" cy="239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373975" y="3202769"/>
            <a:ext cx="7843811" cy="433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444" b="1" spc="73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Alcance 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088314" y="3938090"/>
            <a:ext cx="14191171" cy="2283636"/>
            <a:chOff x="0" y="0"/>
            <a:chExt cx="3737592" cy="60145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37592" cy="601451"/>
            </a:xfrm>
            <a:custGeom>
              <a:avLst/>
              <a:gdLst/>
              <a:ahLst/>
              <a:cxnLst/>
              <a:rect l="l" t="t" r="r" b="b"/>
              <a:pathLst>
                <a:path w="3737592" h="601451">
                  <a:moveTo>
                    <a:pt x="0" y="0"/>
                  </a:moveTo>
                  <a:lnTo>
                    <a:pt x="3737592" y="0"/>
                  </a:lnTo>
                  <a:lnTo>
                    <a:pt x="3737592" y="601451"/>
                  </a:lnTo>
                  <a:lnTo>
                    <a:pt x="0" y="601451"/>
                  </a:lnTo>
                  <a:close/>
                </a:path>
              </a:pathLst>
            </a:custGeom>
            <a:solidFill>
              <a:srgbClr val="56B48C">
                <a:alpha val="13725"/>
              </a:srgbClr>
            </a:solidFill>
            <a:ln w="28575" cap="sq">
              <a:solidFill>
                <a:srgbClr val="EAEBEE">
                  <a:alpha val="1372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737592" cy="649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779716" y="3978877"/>
            <a:ext cx="13082318" cy="2107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9862" lvl="1" indent="-209931" algn="l">
              <a:lnSpc>
                <a:spcPts val="2839"/>
              </a:lnSpc>
              <a:buFont typeface="Arial"/>
              <a:buChar char="•"/>
            </a:pP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Conexión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directa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entre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clientes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y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prestadores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mediante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perfiles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detallados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y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validados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marL="419862" lvl="1" indent="-209931" algn="l">
              <a:lnSpc>
                <a:spcPts val="2839"/>
              </a:lnSpc>
              <a:buFont typeface="Arial"/>
              <a:buChar char="•"/>
            </a:pP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Categorización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servicios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por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especialidad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y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gestión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de agendas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en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tiempo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real.</a:t>
            </a:r>
          </a:p>
          <a:p>
            <a:pPr marL="419862" lvl="1" indent="-209931" algn="l">
              <a:lnSpc>
                <a:spcPts val="2839"/>
              </a:lnSpc>
              <a:buFont typeface="Arial"/>
              <a:buChar char="•"/>
            </a:pP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Búsqueda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inteligente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con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geolocalización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para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visualizar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prestadores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cercanos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marL="419862" lvl="1" indent="-209931" algn="l">
              <a:lnSpc>
                <a:spcPts val="2839"/>
              </a:lnSpc>
              <a:buFont typeface="Arial"/>
              <a:buChar char="•"/>
            </a:pP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Módulo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administrativo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para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supervisión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usuarios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,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reportes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y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auditoría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marL="419862" lvl="1" indent="-209931" algn="l">
              <a:lnSpc>
                <a:spcPts val="2839"/>
              </a:lnSpc>
              <a:buFont typeface="Arial"/>
              <a:buChar char="•"/>
            </a:pP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Seguridad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mediante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autenticación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JWT y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almacenamiento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archivos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en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Cloudinary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algn="l">
              <a:lnSpc>
                <a:spcPts val="2839"/>
              </a:lnSpc>
            </a:pPr>
            <a:endParaRPr lang="en-US" sz="1944" spc="58" dirty="0">
              <a:solidFill>
                <a:srgbClr val="332C2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2136372" y="6747491"/>
            <a:ext cx="6344410" cy="765634"/>
            <a:chOff x="0" y="0"/>
            <a:chExt cx="1670956" cy="2016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70956" cy="201648"/>
            </a:xfrm>
            <a:custGeom>
              <a:avLst/>
              <a:gdLst/>
              <a:ahLst/>
              <a:cxnLst/>
              <a:rect l="l" t="t" r="r" b="b"/>
              <a:pathLst>
                <a:path w="1670956" h="201648">
                  <a:moveTo>
                    <a:pt x="32947" y="0"/>
                  </a:moveTo>
                  <a:lnTo>
                    <a:pt x="1638008" y="0"/>
                  </a:lnTo>
                  <a:cubicBezTo>
                    <a:pt x="1656205" y="0"/>
                    <a:pt x="1670956" y="14751"/>
                    <a:pt x="1670956" y="32947"/>
                  </a:cubicBezTo>
                  <a:lnTo>
                    <a:pt x="1670956" y="168701"/>
                  </a:lnTo>
                  <a:cubicBezTo>
                    <a:pt x="1670956" y="186897"/>
                    <a:pt x="1656205" y="201648"/>
                    <a:pt x="1638008" y="201648"/>
                  </a:cubicBezTo>
                  <a:lnTo>
                    <a:pt x="32947" y="201648"/>
                  </a:lnTo>
                  <a:cubicBezTo>
                    <a:pt x="14751" y="201648"/>
                    <a:pt x="0" y="186897"/>
                    <a:pt x="0" y="168701"/>
                  </a:cubicBezTo>
                  <a:lnTo>
                    <a:pt x="0" y="32947"/>
                  </a:lnTo>
                  <a:cubicBezTo>
                    <a:pt x="0" y="14751"/>
                    <a:pt x="14751" y="0"/>
                    <a:pt x="32947" y="0"/>
                  </a:cubicBezTo>
                  <a:close/>
                </a:path>
              </a:pathLst>
            </a:custGeom>
            <a:solidFill>
              <a:srgbClr val="56B48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670956" cy="239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373975" y="6888031"/>
            <a:ext cx="7843811" cy="417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3"/>
              </a:lnSpc>
            </a:pPr>
            <a:r>
              <a:rPr lang="en-US" sz="2344" b="1" spc="7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Limitaciones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088314" y="6621776"/>
            <a:ext cx="14191171" cy="2011742"/>
            <a:chOff x="0" y="0"/>
            <a:chExt cx="3737592" cy="52984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37592" cy="529841"/>
            </a:xfrm>
            <a:custGeom>
              <a:avLst/>
              <a:gdLst/>
              <a:ahLst/>
              <a:cxnLst/>
              <a:rect l="l" t="t" r="r" b="b"/>
              <a:pathLst>
                <a:path w="3737592" h="529841">
                  <a:moveTo>
                    <a:pt x="0" y="0"/>
                  </a:moveTo>
                  <a:lnTo>
                    <a:pt x="3737592" y="0"/>
                  </a:lnTo>
                  <a:lnTo>
                    <a:pt x="3737592" y="529841"/>
                  </a:lnTo>
                  <a:lnTo>
                    <a:pt x="0" y="529841"/>
                  </a:lnTo>
                  <a:close/>
                </a:path>
              </a:pathLst>
            </a:custGeom>
            <a:solidFill>
              <a:srgbClr val="56B48C">
                <a:alpha val="13725"/>
              </a:srgbClr>
            </a:solidFill>
            <a:ln w="28575" cap="sq">
              <a:solidFill>
                <a:srgbClr val="EAEBEE">
                  <a:alpha val="1372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3737592" cy="577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373975" y="7656000"/>
            <a:ext cx="14212940" cy="32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Pagos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en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línea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: Se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mantiene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el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trato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directo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; la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pasarela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pago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interna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queda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para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versiones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944" spc="58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futuras</a:t>
            </a:r>
            <a:r>
              <a:rPr lang="en-US" sz="1944" spc="58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225" y="0"/>
            <a:ext cx="3318637" cy="1028700"/>
          </a:xfrm>
          <a:custGeom>
            <a:avLst/>
            <a:gdLst/>
            <a:ahLst/>
            <a:cxnLst/>
            <a:rect l="l" t="t" r="r" b="b"/>
            <a:pathLst>
              <a:path w="3318637" h="1028700">
                <a:moveTo>
                  <a:pt x="0" y="0"/>
                </a:moveTo>
                <a:lnTo>
                  <a:pt x="3318637" y="0"/>
                </a:lnTo>
                <a:lnTo>
                  <a:pt x="331863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8000"/>
            </a:blip>
            <a:stretch>
              <a:fillRect t="-3607" b="-406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3275916" y="518729"/>
            <a:ext cx="12123396" cy="106080"/>
          </a:xfrm>
          <a:custGeom>
            <a:avLst/>
            <a:gdLst/>
            <a:ahLst/>
            <a:cxnLst/>
            <a:rect l="l" t="t" r="r" b="b"/>
            <a:pathLst>
              <a:path w="12123396" h="106080">
                <a:moveTo>
                  <a:pt x="0" y="0"/>
                </a:moveTo>
                <a:lnTo>
                  <a:pt x="12123396" y="0"/>
                </a:lnTo>
                <a:lnTo>
                  <a:pt x="12123396" y="106079"/>
                </a:lnTo>
                <a:lnTo>
                  <a:pt x="0" y="106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996186" y="1420998"/>
            <a:ext cx="14311123" cy="1574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1"/>
              </a:lnSpc>
            </a:pPr>
            <a:r>
              <a:rPr lang="en-US" sz="3784" b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Metodología de trabajo  </a:t>
            </a:r>
          </a:p>
          <a:p>
            <a:pPr marL="0" lvl="0" indent="0" algn="ctr">
              <a:lnSpc>
                <a:spcPts val="6471"/>
              </a:lnSpc>
              <a:spcBef>
                <a:spcPct val="0"/>
              </a:spcBef>
            </a:pPr>
            <a:r>
              <a:rPr lang="en-US" sz="3784" b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para </a:t>
            </a:r>
            <a:r>
              <a:rPr lang="en-US" sz="3784" b="1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el desarrollo</a:t>
            </a:r>
            <a:r>
              <a:rPr lang="en-US" sz="3784" b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3784" b="1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del Proyecto</a:t>
            </a:r>
            <a:r>
              <a:rPr lang="en-US" sz="3784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21601" y="3277911"/>
            <a:ext cx="16620470" cy="6350461"/>
            <a:chOff x="0" y="0"/>
            <a:chExt cx="5334441" cy="20382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34441" cy="2038219"/>
            </a:xfrm>
            <a:custGeom>
              <a:avLst/>
              <a:gdLst/>
              <a:ahLst/>
              <a:cxnLst/>
              <a:rect l="l" t="t" r="r" b="b"/>
              <a:pathLst>
                <a:path w="5334441" h="2038219">
                  <a:moveTo>
                    <a:pt x="13508" y="0"/>
                  </a:moveTo>
                  <a:lnTo>
                    <a:pt x="5320932" y="0"/>
                  </a:lnTo>
                  <a:cubicBezTo>
                    <a:pt x="5324515" y="0"/>
                    <a:pt x="5327951" y="1423"/>
                    <a:pt x="5330484" y="3957"/>
                  </a:cubicBezTo>
                  <a:cubicBezTo>
                    <a:pt x="5333018" y="6490"/>
                    <a:pt x="5334441" y="9926"/>
                    <a:pt x="5334441" y="13508"/>
                  </a:cubicBezTo>
                  <a:lnTo>
                    <a:pt x="5334441" y="2024711"/>
                  </a:lnTo>
                  <a:cubicBezTo>
                    <a:pt x="5334441" y="2032171"/>
                    <a:pt x="5328393" y="2038219"/>
                    <a:pt x="5320932" y="2038219"/>
                  </a:cubicBezTo>
                  <a:lnTo>
                    <a:pt x="13508" y="2038219"/>
                  </a:lnTo>
                  <a:cubicBezTo>
                    <a:pt x="6048" y="2038219"/>
                    <a:pt x="0" y="2032171"/>
                    <a:pt x="0" y="2024711"/>
                  </a:cubicBezTo>
                  <a:lnTo>
                    <a:pt x="0" y="13508"/>
                  </a:lnTo>
                  <a:cubicBezTo>
                    <a:pt x="0" y="6048"/>
                    <a:pt x="6048" y="0"/>
                    <a:pt x="13508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5334441" cy="21620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605200" y="4059769"/>
            <a:ext cx="4751879" cy="583660"/>
            <a:chOff x="0" y="0"/>
            <a:chExt cx="1251524" cy="15372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51524" cy="153721"/>
            </a:xfrm>
            <a:custGeom>
              <a:avLst/>
              <a:gdLst/>
              <a:ahLst/>
              <a:cxnLst/>
              <a:rect l="l" t="t" r="r" b="b"/>
              <a:pathLst>
                <a:path w="1251524" h="153721">
                  <a:moveTo>
                    <a:pt x="8146" y="0"/>
                  </a:moveTo>
                  <a:lnTo>
                    <a:pt x="1243378" y="0"/>
                  </a:lnTo>
                  <a:cubicBezTo>
                    <a:pt x="1247877" y="0"/>
                    <a:pt x="1251524" y="3647"/>
                    <a:pt x="1251524" y="8146"/>
                  </a:cubicBezTo>
                  <a:lnTo>
                    <a:pt x="1251524" y="145575"/>
                  </a:lnTo>
                  <a:cubicBezTo>
                    <a:pt x="1251524" y="150074"/>
                    <a:pt x="1247877" y="153721"/>
                    <a:pt x="1243378" y="153721"/>
                  </a:cubicBezTo>
                  <a:lnTo>
                    <a:pt x="8146" y="153721"/>
                  </a:lnTo>
                  <a:cubicBezTo>
                    <a:pt x="3647" y="153721"/>
                    <a:pt x="0" y="150074"/>
                    <a:pt x="0" y="145575"/>
                  </a:cubicBezTo>
                  <a:lnTo>
                    <a:pt x="0" y="8146"/>
                  </a:lnTo>
                  <a:cubicBezTo>
                    <a:pt x="0" y="3647"/>
                    <a:pt x="3647" y="0"/>
                    <a:pt x="8146" y="0"/>
                  </a:cubicBezTo>
                  <a:close/>
                </a:path>
              </a:pathLst>
            </a:custGeom>
            <a:solidFill>
              <a:srgbClr val="56B48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51524" cy="191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943541" y="4126721"/>
            <a:ext cx="2956212" cy="39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244" b="1" spc="67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Marco de Trabajo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43541" y="4759927"/>
            <a:ext cx="13610732" cy="38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1"/>
              </a:lnSpc>
            </a:pP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Se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utilizó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una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metodología</a:t>
            </a:r>
            <a:r>
              <a:rPr lang="en-US" sz="2206" b="1" spc="66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206" b="1" spc="66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Ágil</a:t>
            </a:r>
            <a:r>
              <a:rPr lang="en-US" sz="2206" b="1" spc="66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206" b="1" spc="66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basada</a:t>
            </a:r>
            <a:r>
              <a:rPr lang="en-US" sz="2206" b="1" spc="66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206" b="1" spc="66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en</a:t>
            </a:r>
            <a:r>
              <a:rPr lang="en-US" sz="2206" b="1" spc="66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Scrum,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trabajando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mediante</a:t>
            </a:r>
            <a:r>
              <a:rPr lang="en-US" sz="2206" b="1" spc="66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Sprints </a:t>
            </a:r>
            <a:r>
              <a:rPr lang="en-US" sz="2206" b="1" spc="66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iterativos</a:t>
            </a:r>
            <a:r>
              <a:rPr lang="en-US" sz="2206" b="1" spc="66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605200" y="5782451"/>
            <a:ext cx="4751879" cy="583660"/>
            <a:chOff x="0" y="0"/>
            <a:chExt cx="1251524" cy="15372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1524" cy="153721"/>
            </a:xfrm>
            <a:custGeom>
              <a:avLst/>
              <a:gdLst/>
              <a:ahLst/>
              <a:cxnLst/>
              <a:rect l="l" t="t" r="r" b="b"/>
              <a:pathLst>
                <a:path w="1251524" h="153721">
                  <a:moveTo>
                    <a:pt x="0" y="0"/>
                  </a:moveTo>
                  <a:lnTo>
                    <a:pt x="1251524" y="0"/>
                  </a:lnTo>
                  <a:lnTo>
                    <a:pt x="1251524" y="153721"/>
                  </a:lnTo>
                  <a:lnTo>
                    <a:pt x="0" y="153721"/>
                  </a:lnTo>
                  <a:close/>
                </a:path>
              </a:pathLst>
            </a:custGeom>
            <a:solidFill>
              <a:srgbClr val="56B48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251524" cy="191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873002" y="5855621"/>
            <a:ext cx="3911667" cy="39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244" b="1" spc="67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Gestión del Desarrollo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05200" y="6480411"/>
            <a:ext cx="13610732" cy="784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1"/>
              </a:lnSpc>
            </a:pPr>
            <a:r>
              <a:rPr lang="en-US" sz="2206" b="1" spc="66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Uso de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ramas</a:t>
            </a:r>
            <a:r>
              <a:rPr lang="en-US" sz="2206" b="1" spc="66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(feature branches)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en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GitHub para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organizar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206" b="1" spc="66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el </a:t>
            </a:r>
            <a:r>
              <a:rPr lang="en-US" sz="2206" b="1" spc="66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código</a:t>
            </a:r>
            <a:r>
              <a:rPr lang="en-US" sz="2206" b="1" spc="66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y </a:t>
            </a:r>
            <a:r>
              <a:rPr lang="en-US" sz="2206" b="1" spc="66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resolución</a:t>
            </a:r>
            <a:r>
              <a:rPr lang="en-US" sz="2206" b="1" spc="66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de </a:t>
            </a:r>
            <a:r>
              <a:rPr lang="en-US" sz="2206" b="1" spc="66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conflictos</a:t>
            </a:r>
            <a:r>
              <a:rPr lang="en-US" sz="2206" b="1" spc="66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en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la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rama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206" b="1" spc="66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develop.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32248" y="8473901"/>
            <a:ext cx="13610732" cy="784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1"/>
              </a:lnSpc>
            </a:pPr>
            <a:r>
              <a:rPr lang="en-US" sz="2206" b="1" spc="66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Reuniones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retrospectiva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para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evaluar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206" b="1" spc="66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aciertos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(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como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la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integración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exitosa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) y</a:t>
            </a:r>
            <a:r>
              <a:rPr lang="en-US" sz="2206" b="1" spc="66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206" b="1" spc="66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errores</a:t>
            </a:r>
            <a:r>
              <a:rPr lang="en-US" sz="2206" b="1" spc="66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(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como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la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falta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actualización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del backlog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en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tiempo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real).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605200" y="7734291"/>
            <a:ext cx="4751879" cy="583660"/>
            <a:chOff x="0" y="0"/>
            <a:chExt cx="1251524" cy="15372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51524" cy="153721"/>
            </a:xfrm>
            <a:custGeom>
              <a:avLst/>
              <a:gdLst/>
              <a:ahLst/>
              <a:cxnLst/>
              <a:rect l="l" t="t" r="r" b="b"/>
              <a:pathLst>
                <a:path w="1251524" h="153721">
                  <a:moveTo>
                    <a:pt x="0" y="0"/>
                  </a:moveTo>
                  <a:lnTo>
                    <a:pt x="1251524" y="0"/>
                  </a:lnTo>
                  <a:lnTo>
                    <a:pt x="1251524" y="153721"/>
                  </a:lnTo>
                  <a:lnTo>
                    <a:pt x="0" y="153721"/>
                  </a:lnTo>
                  <a:close/>
                </a:path>
              </a:pathLst>
            </a:custGeom>
            <a:solidFill>
              <a:srgbClr val="56B48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251524" cy="191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770614" y="7801243"/>
            <a:ext cx="3911667" cy="39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244" b="1" spc="67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Control y seguimiento</a:t>
            </a:r>
          </a:p>
        </p:txBody>
      </p:sp>
      <p:sp>
        <p:nvSpPr>
          <p:cNvPr id="23" name="Freeform 23"/>
          <p:cNvSpPr/>
          <p:nvPr/>
        </p:nvSpPr>
        <p:spPr>
          <a:xfrm>
            <a:off x="1728529" y="4012568"/>
            <a:ext cx="630860" cy="630860"/>
          </a:xfrm>
          <a:custGeom>
            <a:avLst/>
            <a:gdLst/>
            <a:ahLst/>
            <a:cxnLst/>
            <a:rect l="l" t="t" r="r" b="b"/>
            <a:pathLst>
              <a:path w="630860" h="630860">
                <a:moveTo>
                  <a:pt x="0" y="0"/>
                </a:moveTo>
                <a:lnTo>
                  <a:pt x="630860" y="0"/>
                </a:lnTo>
                <a:lnTo>
                  <a:pt x="630860" y="630860"/>
                </a:lnTo>
                <a:lnTo>
                  <a:pt x="0" y="630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4" name="Freeform 24"/>
          <p:cNvSpPr/>
          <p:nvPr/>
        </p:nvSpPr>
        <p:spPr>
          <a:xfrm>
            <a:off x="1728529" y="5782451"/>
            <a:ext cx="606289" cy="606289"/>
          </a:xfrm>
          <a:custGeom>
            <a:avLst/>
            <a:gdLst/>
            <a:ahLst/>
            <a:cxnLst/>
            <a:rect l="l" t="t" r="r" b="b"/>
            <a:pathLst>
              <a:path w="606289" h="606289">
                <a:moveTo>
                  <a:pt x="0" y="0"/>
                </a:moveTo>
                <a:lnTo>
                  <a:pt x="606289" y="0"/>
                </a:lnTo>
                <a:lnTo>
                  <a:pt x="606289" y="606289"/>
                </a:lnTo>
                <a:lnTo>
                  <a:pt x="0" y="606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5" name="Freeform 25"/>
          <p:cNvSpPr/>
          <p:nvPr/>
        </p:nvSpPr>
        <p:spPr>
          <a:xfrm>
            <a:off x="1728529" y="7710691"/>
            <a:ext cx="630860" cy="630860"/>
          </a:xfrm>
          <a:custGeom>
            <a:avLst/>
            <a:gdLst/>
            <a:ahLst/>
            <a:cxnLst/>
            <a:rect l="l" t="t" r="r" b="b"/>
            <a:pathLst>
              <a:path w="630860" h="630860">
                <a:moveTo>
                  <a:pt x="0" y="0"/>
                </a:moveTo>
                <a:lnTo>
                  <a:pt x="630860" y="0"/>
                </a:lnTo>
                <a:lnTo>
                  <a:pt x="630860" y="630860"/>
                </a:lnTo>
                <a:lnTo>
                  <a:pt x="0" y="630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10817" y="1229907"/>
            <a:ext cx="10266365" cy="1574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6471"/>
              </a:lnSpc>
              <a:spcBef>
                <a:spcPct val="0"/>
              </a:spcBef>
            </a:pPr>
            <a:r>
              <a:rPr lang="en-US" sz="3784" b="1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Cronograma</a:t>
            </a:r>
            <a:r>
              <a:rPr lang="en-US" sz="3784" b="1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para </a:t>
            </a:r>
            <a:r>
              <a:rPr lang="en-US" sz="3784" b="1" dirty="0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el </a:t>
            </a:r>
            <a:r>
              <a:rPr lang="en-US" sz="3784" b="1" dirty="0" err="1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desarrollo</a:t>
            </a:r>
            <a:r>
              <a:rPr lang="en-US" sz="3784" b="1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3784" b="1" dirty="0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del Proyecto</a:t>
            </a:r>
            <a:r>
              <a:rPr lang="en-US" sz="3784" b="1" dirty="0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</a:p>
        </p:txBody>
      </p:sp>
      <p:sp>
        <p:nvSpPr>
          <p:cNvPr id="3" name="Freeform 3"/>
          <p:cNvSpPr/>
          <p:nvPr/>
        </p:nvSpPr>
        <p:spPr>
          <a:xfrm>
            <a:off x="240225" y="0"/>
            <a:ext cx="3318637" cy="1028700"/>
          </a:xfrm>
          <a:custGeom>
            <a:avLst/>
            <a:gdLst/>
            <a:ahLst/>
            <a:cxnLst/>
            <a:rect l="l" t="t" r="r" b="b"/>
            <a:pathLst>
              <a:path w="3318637" h="1028700">
                <a:moveTo>
                  <a:pt x="0" y="0"/>
                </a:moveTo>
                <a:lnTo>
                  <a:pt x="3318637" y="0"/>
                </a:lnTo>
                <a:lnTo>
                  <a:pt x="331863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8000"/>
            </a:blip>
            <a:stretch>
              <a:fillRect t="-3607" b="-406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3275916" y="518729"/>
            <a:ext cx="12123396" cy="106080"/>
          </a:xfrm>
          <a:custGeom>
            <a:avLst/>
            <a:gdLst/>
            <a:ahLst/>
            <a:cxnLst/>
            <a:rect l="l" t="t" r="r" b="b"/>
            <a:pathLst>
              <a:path w="12123396" h="106080">
                <a:moveTo>
                  <a:pt x="0" y="0"/>
                </a:moveTo>
                <a:lnTo>
                  <a:pt x="12123396" y="0"/>
                </a:lnTo>
                <a:lnTo>
                  <a:pt x="12123396" y="106079"/>
                </a:lnTo>
                <a:lnTo>
                  <a:pt x="0" y="106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8235355" y="4059019"/>
            <a:ext cx="4032845" cy="538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u="sng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script.google.com/macros/s/AKfycby_x6z7wHsbcUBfSYMNsURPtx1n0RziQc-YQu5ZP8ApDc1_o-_7XC6WoxSTsH7m_XH8/exec"/>
              </a:rPr>
              <a:t>Roadmap</a:t>
            </a:r>
            <a:endParaRPr lang="en-US" sz="3300" u="sng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  <a:hlinkClick r:id="rId5" tooltip="https://script.google.com/macros/s/AKfycby_x6z7wHsbcUBfSYMNsURPtx1n0RziQc-YQu5ZP8ApDc1_o-_7XC6WoxSTsH7m_XH8/exe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06010" y="1308973"/>
            <a:ext cx="10997465" cy="77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30"/>
              </a:lnSpc>
              <a:spcBef>
                <a:spcPct val="0"/>
              </a:spcBef>
            </a:pPr>
            <a:r>
              <a:rPr lang="en-US" sz="3819" b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Diagrama de</a:t>
            </a:r>
            <a:r>
              <a:rPr lang="en-US" sz="381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3819" b="1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Arquitectura</a:t>
            </a:r>
          </a:p>
        </p:txBody>
      </p:sp>
      <p:sp>
        <p:nvSpPr>
          <p:cNvPr id="3" name="Freeform 3"/>
          <p:cNvSpPr/>
          <p:nvPr/>
        </p:nvSpPr>
        <p:spPr>
          <a:xfrm>
            <a:off x="240225" y="0"/>
            <a:ext cx="3318637" cy="1028700"/>
          </a:xfrm>
          <a:custGeom>
            <a:avLst/>
            <a:gdLst/>
            <a:ahLst/>
            <a:cxnLst/>
            <a:rect l="l" t="t" r="r" b="b"/>
            <a:pathLst>
              <a:path w="3318637" h="1028700">
                <a:moveTo>
                  <a:pt x="0" y="0"/>
                </a:moveTo>
                <a:lnTo>
                  <a:pt x="3318637" y="0"/>
                </a:lnTo>
                <a:lnTo>
                  <a:pt x="331863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8000"/>
            </a:blip>
            <a:stretch>
              <a:fillRect t="-3607" b="-406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3275916" y="518729"/>
            <a:ext cx="12123396" cy="106080"/>
          </a:xfrm>
          <a:custGeom>
            <a:avLst/>
            <a:gdLst/>
            <a:ahLst/>
            <a:cxnLst/>
            <a:rect l="l" t="t" r="r" b="b"/>
            <a:pathLst>
              <a:path w="12123396" h="106080">
                <a:moveTo>
                  <a:pt x="0" y="0"/>
                </a:moveTo>
                <a:lnTo>
                  <a:pt x="12123396" y="0"/>
                </a:lnTo>
                <a:lnTo>
                  <a:pt x="12123396" y="106079"/>
                </a:lnTo>
                <a:lnTo>
                  <a:pt x="0" y="106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2563483" y="2802950"/>
            <a:ext cx="12682518" cy="5461668"/>
          </a:xfrm>
          <a:custGeom>
            <a:avLst/>
            <a:gdLst/>
            <a:ahLst/>
            <a:cxnLst/>
            <a:rect l="l" t="t" r="r" b="b"/>
            <a:pathLst>
              <a:path w="12682518" h="5461668">
                <a:moveTo>
                  <a:pt x="0" y="0"/>
                </a:moveTo>
                <a:lnTo>
                  <a:pt x="12682518" y="0"/>
                </a:lnTo>
                <a:lnTo>
                  <a:pt x="12682518" y="5461668"/>
                </a:lnTo>
                <a:lnTo>
                  <a:pt x="0" y="5461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95" b="-995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225" y="0"/>
            <a:ext cx="3318637" cy="1028700"/>
          </a:xfrm>
          <a:custGeom>
            <a:avLst/>
            <a:gdLst/>
            <a:ahLst/>
            <a:cxnLst/>
            <a:rect l="l" t="t" r="r" b="b"/>
            <a:pathLst>
              <a:path w="3318637" h="1028700">
                <a:moveTo>
                  <a:pt x="0" y="0"/>
                </a:moveTo>
                <a:lnTo>
                  <a:pt x="3318637" y="0"/>
                </a:lnTo>
                <a:lnTo>
                  <a:pt x="331863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8000"/>
            </a:blip>
            <a:stretch>
              <a:fillRect t="-3607" b="-406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3275916" y="518729"/>
            <a:ext cx="12123396" cy="106080"/>
          </a:xfrm>
          <a:custGeom>
            <a:avLst/>
            <a:gdLst/>
            <a:ahLst/>
            <a:cxnLst/>
            <a:rect l="l" t="t" r="r" b="b"/>
            <a:pathLst>
              <a:path w="12123396" h="106080">
                <a:moveTo>
                  <a:pt x="0" y="0"/>
                </a:moveTo>
                <a:lnTo>
                  <a:pt x="12123396" y="0"/>
                </a:lnTo>
                <a:lnTo>
                  <a:pt x="12123396" y="106079"/>
                </a:lnTo>
                <a:lnTo>
                  <a:pt x="0" y="106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3549328" y="880893"/>
            <a:ext cx="10997465" cy="77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30"/>
              </a:lnSpc>
              <a:spcBef>
                <a:spcPct val="0"/>
              </a:spcBef>
            </a:pPr>
            <a:r>
              <a:rPr lang="en-US" sz="3819" b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Modelo de</a:t>
            </a:r>
            <a:r>
              <a:rPr lang="en-US" sz="3819" b="1">
                <a:solidFill>
                  <a:srgbClr val="45B9AD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3819" b="1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Datos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76617" y="1957503"/>
            <a:ext cx="15442020" cy="160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1"/>
              </a:lnSpc>
            </a:pP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Se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implementó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un</a:t>
            </a:r>
            <a:r>
              <a:rPr lang="en-US" sz="2206" b="1" spc="66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Modelo </a:t>
            </a:r>
            <a:r>
              <a:rPr lang="en-US" sz="2206" b="1" spc="66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Relacional</a:t>
            </a:r>
            <a:r>
              <a:rPr lang="en-US" sz="2206" b="1" spc="66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normalizado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utilizando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el</a:t>
            </a:r>
            <a:r>
              <a:rPr lang="en-US" sz="2206" b="1" spc="66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motor MySQL (</a:t>
            </a:r>
            <a:r>
              <a:rPr lang="en-US" sz="2206" b="1" spc="66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alojado</a:t>
            </a:r>
            <a:r>
              <a:rPr lang="en-US" sz="2206" b="1" spc="66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206" b="1" spc="66" dirty="0" err="1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en</a:t>
            </a:r>
            <a:r>
              <a:rPr lang="en-US" sz="2206" b="1" spc="66" dirty="0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 Railway) 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con 17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Entidades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distribuidas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en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5 Dominios de </a:t>
            </a:r>
            <a:r>
              <a:rPr lang="en-US" sz="2206" spc="66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Negocio</a:t>
            </a:r>
            <a:r>
              <a:rPr lang="en-US" sz="2206" spc="66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algn="l">
              <a:lnSpc>
                <a:spcPts val="3221"/>
              </a:lnSpc>
            </a:pPr>
            <a:endParaRPr lang="en-US" sz="2206" spc="66" dirty="0">
              <a:solidFill>
                <a:srgbClr val="332C2B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3221"/>
              </a:lnSpc>
            </a:pPr>
            <a:endParaRPr lang="en-US" sz="2206" spc="66" dirty="0">
              <a:solidFill>
                <a:srgbClr val="332C2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083269" y="3005529"/>
            <a:ext cx="7821473" cy="2910586"/>
            <a:chOff x="0" y="0"/>
            <a:chExt cx="2059976" cy="7665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59976" cy="766574"/>
            </a:xfrm>
            <a:custGeom>
              <a:avLst/>
              <a:gdLst/>
              <a:ahLst/>
              <a:cxnLst/>
              <a:rect l="l" t="t" r="r" b="b"/>
              <a:pathLst>
                <a:path w="2059976" h="766574">
                  <a:moveTo>
                    <a:pt x="0" y="0"/>
                  </a:moveTo>
                  <a:lnTo>
                    <a:pt x="2059976" y="0"/>
                  </a:lnTo>
                  <a:lnTo>
                    <a:pt x="2059976" y="766574"/>
                  </a:lnTo>
                  <a:lnTo>
                    <a:pt x="0" y="766574"/>
                  </a:lnTo>
                  <a:close/>
                </a:path>
              </a:pathLst>
            </a:custGeom>
            <a:solidFill>
              <a:srgbClr val="56B48C">
                <a:alpha val="13725"/>
              </a:srgbClr>
            </a:solidFill>
            <a:ln w="28575" cap="sq">
              <a:solidFill>
                <a:srgbClr val="EAEBEE">
                  <a:alpha val="1372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059976" cy="814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37614" y="3005529"/>
            <a:ext cx="8665458" cy="2910586"/>
            <a:chOff x="0" y="0"/>
            <a:chExt cx="2282261" cy="7665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82260" cy="766574"/>
            </a:xfrm>
            <a:custGeom>
              <a:avLst/>
              <a:gdLst/>
              <a:ahLst/>
              <a:cxnLst/>
              <a:rect l="l" t="t" r="r" b="b"/>
              <a:pathLst>
                <a:path w="2282260" h="766574">
                  <a:moveTo>
                    <a:pt x="0" y="0"/>
                  </a:moveTo>
                  <a:lnTo>
                    <a:pt x="2282260" y="0"/>
                  </a:lnTo>
                  <a:lnTo>
                    <a:pt x="2282260" y="766574"/>
                  </a:lnTo>
                  <a:lnTo>
                    <a:pt x="0" y="766574"/>
                  </a:lnTo>
                  <a:close/>
                </a:path>
              </a:pathLst>
            </a:custGeom>
            <a:solidFill>
              <a:srgbClr val="56B48C">
                <a:alpha val="13725"/>
              </a:srgbClr>
            </a:solidFill>
            <a:ln w="28575" cap="sq">
              <a:solidFill>
                <a:srgbClr val="EAEBEE">
                  <a:alpha val="1372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282261" cy="814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99753" y="3270654"/>
            <a:ext cx="4499150" cy="345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1944" b="1" spc="58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1. AUTENTICACIÓN Y CUENTAS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97627" y="3270654"/>
            <a:ext cx="4499150" cy="345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1944" b="1" spc="58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2. CATÁLOGO DE SERVICIOS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83269" y="6249490"/>
            <a:ext cx="7821473" cy="2610464"/>
            <a:chOff x="0" y="0"/>
            <a:chExt cx="2059976" cy="6875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59976" cy="687530"/>
            </a:xfrm>
            <a:custGeom>
              <a:avLst/>
              <a:gdLst/>
              <a:ahLst/>
              <a:cxnLst/>
              <a:rect l="l" t="t" r="r" b="b"/>
              <a:pathLst>
                <a:path w="2059976" h="687530">
                  <a:moveTo>
                    <a:pt x="0" y="0"/>
                  </a:moveTo>
                  <a:lnTo>
                    <a:pt x="2059976" y="0"/>
                  </a:lnTo>
                  <a:lnTo>
                    <a:pt x="2059976" y="687530"/>
                  </a:lnTo>
                  <a:lnTo>
                    <a:pt x="0" y="687530"/>
                  </a:lnTo>
                  <a:close/>
                </a:path>
              </a:pathLst>
            </a:custGeom>
            <a:solidFill>
              <a:srgbClr val="56B48C">
                <a:alpha val="13725"/>
              </a:srgbClr>
            </a:solidFill>
            <a:ln w="28575" cap="sq">
              <a:solidFill>
                <a:srgbClr val="EAEBEE">
                  <a:alpha val="1372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059976" cy="7351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37827" y="6278065"/>
            <a:ext cx="8565245" cy="2610464"/>
            <a:chOff x="0" y="0"/>
            <a:chExt cx="2255867" cy="68753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55867" cy="687530"/>
            </a:xfrm>
            <a:custGeom>
              <a:avLst/>
              <a:gdLst/>
              <a:ahLst/>
              <a:cxnLst/>
              <a:rect l="l" t="t" r="r" b="b"/>
              <a:pathLst>
                <a:path w="2255867" h="687530">
                  <a:moveTo>
                    <a:pt x="0" y="0"/>
                  </a:moveTo>
                  <a:lnTo>
                    <a:pt x="2255867" y="0"/>
                  </a:lnTo>
                  <a:lnTo>
                    <a:pt x="2255867" y="687530"/>
                  </a:lnTo>
                  <a:lnTo>
                    <a:pt x="0" y="687530"/>
                  </a:lnTo>
                  <a:close/>
                </a:path>
              </a:pathLst>
            </a:custGeom>
            <a:solidFill>
              <a:srgbClr val="56B48C">
                <a:alpha val="13725"/>
              </a:srgbClr>
            </a:solidFill>
            <a:ln w="28575" cap="sq">
              <a:solidFill>
                <a:srgbClr val="EAEBEE">
                  <a:alpha val="1372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255867" cy="7351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09287" y="6420940"/>
            <a:ext cx="5406832" cy="345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1944" b="1" spc="58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3. GESTIÓN DE AGENDA Y RESERVAS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88916" y="6420940"/>
            <a:ext cx="4499150" cy="345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1944" b="1" spc="58">
                <a:solidFill>
                  <a:srgbClr val="332C2B"/>
                </a:solidFill>
                <a:latin typeface="Gotham Bold"/>
                <a:ea typeface="Gotham Bold"/>
                <a:cs typeface="Gotham Bold"/>
                <a:sym typeface="Gotham Bold"/>
              </a:rPr>
              <a:t>4. SEGURIDAD BIOMÉTRICA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19211" y="3818421"/>
            <a:ext cx="7508833" cy="156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6683" lvl="1" indent="-188341" algn="l">
              <a:lnSpc>
                <a:spcPts val="2547"/>
              </a:lnSpc>
              <a:buFont typeface="Arial"/>
              <a:buChar char="•"/>
            </a:pPr>
            <a:r>
              <a:rPr lang="en-US" sz="1744" spc="52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Usuarios: Almacena la información principal y credenciales.</a:t>
            </a:r>
          </a:p>
          <a:p>
            <a:pPr marL="376683" lvl="1" indent="-188341" algn="l">
              <a:lnSpc>
                <a:spcPts val="2547"/>
              </a:lnSpc>
              <a:buFont typeface="Arial"/>
              <a:buChar char="•"/>
            </a:pPr>
            <a:r>
              <a:rPr lang="en-US" sz="1744" spc="52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Roles: Define permisos (Cliente, Prestador, Admin).</a:t>
            </a:r>
          </a:p>
          <a:p>
            <a:pPr marL="376683" lvl="1" indent="-188341" algn="l">
              <a:lnSpc>
                <a:spcPts val="2547"/>
              </a:lnSpc>
              <a:buFont typeface="Arial"/>
              <a:buChar char="•"/>
            </a:pPr>
            <a:r>
              <a:rPr lang="en-US" sz="1744" spc="52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Clientes: Perfil específico para solicitantes.</a:t>
            </a:r>
          </a:p>
          <a:p>
            <a:pPr marL="376683" lvl="1" indent="-188341" algn="l">
              <a:lnSpc>
                <a:spcPts val="2547"/>
              </a:lnSpc>
              <a:buFont typeface="Arial"/>
              <a:buChar char="•"/>
            </a:pPr>
            <a:r>
              <a:rPr lang="en-US" sz="1744" spc="52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Prestadores: Perfil con datos de experiencia y modalidad.</a:t>
            </a:r>
          </a:p>
          <a:p>
            <a:pPr marL="376683" lvl="1" indent="-188341" algn="l">
              <a:lnSpc>
                <a:spcPts val="2547"/>
              </a:lnSpc>
              <a:buFont typeface="Arial"/>
              <a:buChar char="•"/>
            </a:pPr>
            <a:r>
              <a:rPr lang="en-US" sz="1744" spc="52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Empresas: Información de locales establecidos asociados.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97627" y="3740864"/>
            <a:ext cx="9180878" cy="1402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9862" lvl="1" indent="-209931" algn="l">
              <a:lnSpc>
                <a:spcPts val="2839"/>
              </a:lnSpc>
              <a:buFont typeface="Arial"/>
              <a:buChar char="•"/>
            </a:pPr>
            <a:r>
              <a:rPr lang="en-US" sz="1944" spc="58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Servicios: Ofertas técnicas y profesionales disponibles.</a:t>
            </a:r>
          </a:p>
          <a:p>
            <a:pPr marL="419862" lvl="1" indent="-209931" algn="l">
              <a:lnSpc>
                <a:spcPts val="2839"/>
              </a:lnSpc>
              <a:buFont typeface="Arial"/>
              <a:buChar char="•"/>
            </a:pPr>
            <a:r>
              <a:rPr lang="en-US" sz="1944" spc="58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Especialidades: Clasificación técnica de cada servicio.</a:t>
            </a:r>
          </a:p>
          <a:p>
            <a:pPr marL="419862" lvl="1" indent="-209931" algn="l">
              <a:lnSpc>
                <a:spcPts val="2839"/>
              </a:lnSpc>
              <a:buFont typeface="Arial"/>
              <a:buChar char="•"/>
            </a:pPr>
            <a:r>
              <a:rPr lang="en-US" sz="1944" spc="58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Categoría Prestador: Clasificación general de los prestadores.</a:t>
            </a:r>
          </a:p>
          <a:p>
            <a:pPr algn="l">
              <a:lnSpc>
                <a:spcPts val="2839"/>
              </a:lnSpc>
            </a:pPr>
            <a:endParaRPr lang="en-US" sz="1944" spc="58">
              <a:solidFill>
                <a:srgbClr val="332C2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83269" y="7080626"/>
            <a:ext cx="9053484" cy="124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6683" lvl="1" indent="-188341" algn="l">
              <a:lnSpc>
                <a:spcPts val="2547"/>
              </a:lnSpc>
              <a:buFont typeface="Arial"/>
              <a:buChar char="•"/>
            </a:pP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Disponibilidad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: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Horarios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semanales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atención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prestadores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marL="376683" lvl="1" indent="-188341" algn="l">
              <a:lnSpc>
                <a:spcPts val="2547"/>
              </a:lnSpc>
              <a:buFont typeface="Arial"/>
              <a:buChar char="•"/>
            </a:pP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Solicitud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de Servicio: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Peticiones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iniciales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clientes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marL="376683" lvl="1" indent="-188341" algn="l">
              <a:lnSpc>
                <a:spcPts val="2547"/>
              </a:lnSpc>
              <a:buFont typeface="Arial"/>
              <a:buChar char="•"/>
            </a:pP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Reserva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: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Citas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confirmadas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entre ambas partes.</a:t>
            </a:r>
          </a:p>
          <a:p>
            <a:pPr algn="l">
              <a:lnSpc>
                <a:spcPts val="2547"/>
              </a:lnSpc>
            </a:pPr>
            <a:endParaRPr lang="en-US" sz="1744" spc="52" dirty="0">
              <a:solidFill>
                <a:srgbClr val="332C2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725021" y="7080626"/>
            <a:ext cx="9053484" cy="124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6683" lvl="1" indent="-188341" algn="l">
              <a:lnSpc>
                <a:spcPts val="2547"/>
              </a:lnSpc>
              <a:buFont typeface="Arial"/>
              <a:buChar char="•"/>
            </a:pP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Foto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Biométrica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Registro: Imagen base para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validación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marL="376683" lvl="1" indent="-188341" algn="l">
              <a:lnSpc>
                <a:spcPts val="2547"/>
              </a:lnSpc>
              <a:buFont typeface="Arial"/>
              <a:buChar char="•"/>
            </a:pP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Validación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Biométrica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: Registro de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procesos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</a:p>
          <a:p>
            <a:pPr algn="l">
              <a:lnSpc>
                <a:spcPts val="2547"/>
              </a:lnSpc>
            </a:pP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   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reconocimiento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facial y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porcentajes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 de </a:t>
            </a:r>
            <a:r>
              <a:rPr lang="en-US" sz="1744" spc="52" dirty="0" err="1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coincidencia</a:t>
            </a:r>
            <a:r>
              <a:rPr lang="en-US" sz="1744" spc="52" dirty="0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algn="l">
              <a:lnSpc>
                <a:spcPts val="2547"/>
              </a:lnSpc>
            </a:pPr>
            <a:endParaRPr lang="en-US" sz="1744" spc="52" dirty="0">
              <a:solidFill>
                <a:srgbClr val="332C2B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2721" y="0"/>
            <a:ext cx="3318637" cy="1028700"/>
          </a:xfrm>
          <a:custGeom>
            <a:avLst/>
            <a:gdLst/>
            <a:ahLst/>
            <a:cxnLst/>
            <a:rect l="l" t="t" r="r" b="b"/>
            <a:pathLst>
              <a:path w="3318637" h="1028700">
                <a:moveTo>
                  <a:pt x="0" y="0"/>
                </a:moveTo>
                <a:lnTo>
                  <a:pt x="3318637" y="0"/>
                </a:lnTo>
                <a:lnTo>
                  <a:pt x="331863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8000"/>
            </a:blip>
            <a:stretch>
              <a:fillRect t="-3607" b="-406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3275916" y="518729"/>
            <a:ext cx="12123396" cy="106080"/>
          </a:xfrm>
          <a:custGeom>
            <a:avLst/>
            <a:gdLst/>
            <a:ahLst/>
            <a:cxnLst/>
            <a:rect l="l" t="t" r="r" b="b"/>
            <a:pathLst>
              <a:path w="12123396" h="106080">
                <a:moveTo>
                  <a:pt x="0" y="0"/>
                </a:moveTo>
                <a:lnTo>
                  <a:pt x="12123396" y="0"/>
                </a:lnTo>
                <a:lnTo>
                  <a:pt x="12123396" y="106079"/>
                </a:lnTo>
                <a:lnTo>
                  <a:pt x="0" y="106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6250631" y="3216402"/>
            <a:ext cx="5394148" cy="5394148"/>
          </a:xfrm>
          <a:custGeom>
            <a:avLst/>
            <a:gdLst/>
            <a:ahLst/>
            <a:cxnLst/>
            <a:rect l="l" t="t" r="r" b="b"/>
            <a:pathLst>
              <a:path w="5394148" h="5394148">
                <a:moveTo>
                  <a:pt x="0" y="0"/>
                </a:moveTo>
                <a:lnTo>
                  <a:pt x="5394148" y="0"/>
                </a:lnTo>
                <a:lnTo>
                  <a:pt x="5394148" y="5394148"/>
                </a:lnTo>
                <a:lnTo>
                  <a:pt x="0" y="53941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11282355" y="4821421"/>
            <a:ext cx="447669" cy="44766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05964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32208" y="3334044"/>
            <a:ext cx="447669" cy="44766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05964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28043" y="8049021"/>
            <a:ext cx="447669" cy="44766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05964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282355" y="6634632"/>
            <a:ext cx="447669" cy="44766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05964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936296" y="2499674"/>
            <a:ext cx="5082362" cy="1567119"/>
            <a:chOff x="0" y="0"/>
            <a:chExt cx="1467458" cy="45248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964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168320" y="4304641"/>
            <a:ext cx="5082362" cy="1567119"/>
            <a:chOff x="0" y="0"/>
            <a:chExt cx="1467458" cy="45248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964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176938" y="6109388"/>
            <a:ext cx="5082362" cy="1567119"/>
            <a:chOff x="0" y="0"/>
            <a:chExt cx="1467458" cy="45248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964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979657" y="7886744"/>
            <a:ext cx="5082362" cy="1567119"/>
            <a:chOff x="0" y="0"/>
            <a:chExt cx="1467458" cy="45248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964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7322325" y="4549764"/>
            <a:ext cx="3521880" cy="2619398"/>
          </a:xfrm>
          <a:custGeom>
            <a:avLst/>
            <a:gdLst/>
            <a:ahLst/>
            <a:cxnLst/>
            <a:rect l="l" t="t" r="r" b="b"/>
            <a:pathLst>
              <a:path w="3521880" h="2619398">
                <a:moveTo>
                  <a:pt x="0" y="0"/>
                </a:moveTo>
                <a:lnTo>
                  <a:pt x="3521880" y="0"/>
                </a:lnTo>
                <a:lnTo>
                  <a:pt x="3521880" y="2619398"/>
                </a:lnTo>
                <a:lnTo>
                  <a:pt x="0" y="26193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0" name="Group 30"/>
          <p:cNvGrpSpPr/>
          <p:nvPr/>
        </p:nvGrpSpPr>
        <p:grpSpPr>
          <a:xfrm>
            <a:off x="2076942" y="2304111"/>
            <a:ext cx="5082362" cy="1567119"/>
            <a:chOff x="0" y="0"/>
            <a:chExt cx="1467458" cy="45248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32C2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47905" y="4089848"/>
            <a:ext cx="5082362" cy="1567119"/>
            <a:chOff x="0" y="0"/>
            <a:chExt cx="1467458" cy="45248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32C2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1467458" cy="46200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l">
                <a:lnSpc>
                  <a:spcPts val="228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16909" y="5879344"/>
            <a:ext cx="5082362" cy="1567119"/>
            <a:chOff x="0" y="0"/>
            <a:chExt cx="1467458" cy="45248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32C2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995741" y="7989388"/>
            <a:ext cx="5082362" cy="1567119"/>
            <a:chOff x="0" y="0"/>
            <a:chExt cx="1467458" cy="45248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467458" cy="452483"/>
            </a:xfrm>
            <a:custGeom>
              <a:avLst/>
              <a:gdLst/>
              <a:ahLst/>
              <a:cxnLst/>
              <a:rect l="l" t="t" r="r" b="b"/>
              <a:pathLst>
                <a:path w="1467458" h="452483">
                  <a:moveTo>
                    <a:pt x="1264258" y="0"/>
                  </a:moveTo>
                  <a:cubicBezTo>
                    <a:pt x="1376482" y="0"/>
                    <a:pt x="1467458" y="101292"/>
                    <a:pt x="1467458" y="226241"/>
                  </a:cubicBezTo>
                  <a:cubicBezTo>
                    <a:pt x="1467458" y="351191"/>
                    <a:pt x="1376482" y="452483"/>
                    <a:pt x="1264258" y="452483"/>
                  </a:cubicBezTo>
                  <a:lnTo>
                    <a:pt x="203200" y="452483"/>
                  </a:lnTo>
                  <a:cubicBezTo>
                    <a:pt x="90976" y="452483"/>
                    <a:pt x="0" y="351191"/>
                    <a:pt x="0" y="226241"/>
                  </a:cubicBezTo>
                  <a:cubicBezTo>
                    <a:pt x="0" y="1012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32C2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28575"/>
              <a:ext cx="1467458" cy="481058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477571" y="3334044"/>
            <a:ext cx="447669" cy="447669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05964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393084" y="4616990"/>
            <a:ext cx="447669" cy="447669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05964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50631" y="6348449"/>
            <a:ext cx="447669" cy="447669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05964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1" name="Freeform 51"/>
          <p:cNvSpPr/>
          <p:nvPr/>
        </p:nvSpPr>
        <p:spPr>
          <a:xfrm>
            <a:off x="2807309" y="2582834"/>
            <a:ext cx="1044224" cy="975045"/>
          </a:xfrm>
          <a:custGeom>
            <a:avLst/>
            <a:gdLst/>
            <a:ahLst/>
            <a:cxnLst/>
            <a:rect l="l" t="t" r="r" b="b"/>
            <a:pathLst>
              <a:path w="1044224" h="975045">
                <a:moveTo>
                  <a:pt x="0" y="0"/>
                </a:moveTo>
                <a:lnTo>
                  <a:pt x="1044225" y="0"/>
                </a:lnTo>
                <a:lnTo>
                  <a:pt x="1044225" y="975045"/>
                </a:lnTo>
                <a:lnTo>
                  <a:pt x="0" y="9750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2" name="Freeform 52"/>
          <p:cNvSpPr/>
          <p:nvPr/>
        </p:nvSpPr>
        <p:spPr>
          <a:xfrm>
            <a:off x="1378390" y="6142742"/>
            <a:ext cx="1058703" cy="1058703"/>
          </a:xfrm>
          <a:custGeom>
            <a:avLst/>
            <a:gdLst/>
            <a:ahLst/>
            <a:cxnLst/>
            <a:rect l="l" t="t" r="r" b="b"/>
            <a:pathLst>
              <a:path w="1058703" h="1058703">
                <a:moveTo>
                  <a:pt x="0" y="0"/>
                </a:moveTo>
                <a:lnTo>
                  <a:pt x="1058702" y="0"/>
                </a:lnTo>
                <a:lnTo>
                  <a:pt x="1058702" y="1058703"/>
                </a:lnTo>
                <a:lnTo>
                  <a:pt x="0" y="10587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53" name="Group 53"/>
          <p:cNvGrpSpPr/>
          <p:nvPr/>
        </p:nvGrpSpPr>
        <p:grpSpPr>
          <a:xfrm>
            <a:off x="7249553" y="7945338"/>
            <a:ext cx="447669" cy="447669"/>
            <a:chOff x="0" y="0"/>
            <a:chExt cx="812800" cy="812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  <a:ln w="85725" cap="sq">
              <a:solidFill>
                <a:srgbClr val="05964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29800" tIns="29800" rIns="29800" bIns="29800" rtlCol="0" anchor="ctr"/>
            <a:lstStyle/>
            <a:p>
              <a:pPr marL="0" lvl="0" indent="0" algn="ctr">
                <a:lnSpc>
                  <a:spcPts val="16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6" name="Freeform 56"/>
          <p:cNvSpPr/>
          <p:nvPr/>
        </p:nvSpPr>
        <p:spPr>
          <a:xfrm>
            <a:off x="2907266" y="7674665"/>
            <a:ext cx="2147274" cy="2147274"/>
          </a:xfrm>
          <a:custGeom>
            <a:avLst/>
            <a:gdLst/>
            <a:ahLst/>
            <a:cxnLst/>
            <a:rect l="l" t="t" r="r" b="b"/>
            <a:pathLst>
              <a:path w="2147274" h="2147274">
                <a:moveTo>
                  <a:pt x="0" y="0"/>
                </a:moveTo>
                <a:lnTo>
                  <a:pt x="2147274" y="0"/>
                </a:lnTo>
                <a:lnTo>
                  <a:pt x="2147274" y="2147274"/>
                </a:lnTo>
                <a:lnTo>
                  <a:pt x="0" y="21472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7" name="Freeform 57"/>
          <p:cNvSpPr/>
          <p:nvPr/>
        </p:nvSpPr>
        <p:spPr>
          <a:xfrm>
            <a:off x="11644779" y="2718183"/>
            <a:ext cx="996437" cy="996437"/>
          </a:xfrm>
          <a:custGeom>
            <a:avLst/>
            <a:gdLst/>
            <a:ahLst/>
            <a:cxnLst/>
            <a:rect l="l" t="t" r="r" b="b"/>
            <a:pathLst>
              <a:path w="996437" h="996437">
                <a:moveTo>
                  <a:pt x="0" y="0"/>
                </a:moveTo>
                <a:lnTo>
                  <a:pt x="996437" y="0"/>
                </a:lnTo>
                <a:lnTo>
                  <a:pt x="996437" y="996437"/>
                </a:lnTo>
                <a:lnTo>
                  <a:pt x="0" y="9964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8" name="Freeform 58"/>
          <p:cNvSpPr/>
          <p:nvPr/>
        </p:nvSpPr>
        <p:spPr>
          <a:xfrm>
            <a:off x="12672998" y="4549764"/>
            <a:ext cx="944474" cy="944474"/>
          </a:xfrm>
          <a:custGeom>
            <a:avLst/>
            <a:gdLst/>
            <a:ahLst/>
            <a:cxnLst/>
            <a:rect l="l" t="t" r="r" b="b"/>
            <a:pathLst>
              <a:path w="944474" h="944474">
                <a:moveTo>
                  <a:pt x="0" y="0"/>
                </a:moveTo>
                <a:lnTo>
                  <a:pt x="944474" y="0"/>
                </a:lnTo>
                <a:lnTo>
                  <a:pt x="944474" y="944474"/>
                </a:lnTo>
                <a:lnTo>
                  <a:pt x="0" y="9444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9" name="Freeform 59"/>
          <p:cNvSpPr/>
          <p:nvPr/>
        </p:nvSpPr>
        <p:spPr>
          <a:xfrm>
            <a:off x="12672998" y="6243610"/>
            <a:ext cx="1105015" cy="1105015"/>
          </a:xfrm>
          <a:custGeom>
            <a:avLst/>
            <a:gdLst/>
            <a:ahLst/>
            <a:cxnLst/>
            <a:rect l="l" t="t" r="r" b="b"/>
            <a:pathLst>
              <a:path w="1105015" h="1105015">
                <a:moveTo>
                  <a:pt x="0" y="0"/>
                </a:moveTo>
                <a:lnTo>
                  <a:pt x="1105015" y="0"/>
                </a:lnTo>
                <a:lnTo>
                  <a:pt x="1105015" y="1105015"/>
                </a:lnTo>
                <a:lnTo>
                  <a:pt x="0" y="110501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0" name="Freeform 60"/>
          <p:cNvSpPr/>
          <p:nvPr/>
        </p:nvSpPr>
        <p:spPr>
          <a:xfrm>
            <a:off x="11506189" y="8169172"/>
            <a:ext cx="1114317" cy="1158259"/>
          </a:xfrm>
          <a:custGeom>
            <a:avLst/>
            <a:gdLst/>
            <a:ahLst/>
            <a:cxnLst/>
            <a:rect l="l" t="t" r="r" b="b"/>
            <a:pathLst>
              <a:path w="1114317" h="1158259">
                <a:moveTo>
                  <a:pt x="0" y="0"/>
                </a:moveTo>
                <a:lnTo>
                  <a:pt x="1114317" y="0"/>
                </a:lnTo>
                <a:lnTo>
                  <a:pt x="1114317" y="1158260"/>
                </a:lnTo>
                <a:lnTo>
                  <a:pt x="0" y="115826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6785" t="-10987" b="-10987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1" name="Freeform 61"/>
          <p:cNvSpPr/>
          <p:nvPr/>
        </p:nvSpPr>
        <p:spPr>
          <a:xfrm>
            <a:off x="1603437" y="4357257"/>
            <a:ext cx="912593" cy="911833"/>
          </a:xfrm>
          <a:custGeom>
            <a:avLst/>
            <a:gdLst/>
            <a:ahLst/>
            <a:cxnLst/>
            <a:rect l="l" t="t" r="r" b="b"/>
            <a:pathLst>
              <a:path w="912593" h="911833">
                <a:moveTo>
                  <a:pt x="0" y="0"/>
                </a:moveTo>
                <a:lnTo>
                  <a:pt x="912594" y="0"/>
                </a:lnTo>
                <a:lnTo>
                  <a:pt x="912594" y="911833"/>
                </a:lnTo>
                <a:lnTo>
                  <a:pt x="0" y="91183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2" name="TextBox 62"/>
          <p:cNvSpPr txBox="1"/>
          <p:nvPr/>
        </p:nvSpPr>
        <p:spPr>
          <a:xfrm>
            <a:off x="2516031" y="1067592"/>
            <a:ext cx="12510392" cy="793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01"/>
              </a:lnSpc>
              <a:spcBef>
                <a:spcPct val="0"/>
              </a:spcBef>
            </a:pPr>
            <a:r>
              <a:rPr lang="en-US" sz="3919" b="1">
                <a:solidFill>
                  <a:srgbClr val="059640"/>
                </a:solidFill>
                <a:latin typeface="Gotham Bold"/>
                <a:ea typeface="Gotham Bold"/>
                <a:cs typeface="Gotham Bold"/>
                <a:sym typeface="Gotham Bold"/>
              </a:rPr>
              <a:t>Tecnologias</a:t>
            </a:r>
            <a:r>
              <a:rPr lang="en-US" sz="3919" b="1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3919" b="1">
                <a:solidFill>
                  <a:srgbClr val="474747"/>
                </a:solidFill>
                <a:latin typeface="Gotham Bold"/>
                <a:ea typeface="Gotham Bold"/>
                <a:cs typeface="Gotham Bold"/>
                <a:sym typeface="Gotham Bold"/>
              </a:rPr>
              <a:t>Utilizadas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209808" y="2848069"/>
            <a:ext cx="1689464" cy="36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27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REACT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875242" y="4622968"/>
            <a:ext cx="2575289" cy="36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27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SPRING BOOT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875242" y="6409442"/>
            <a:ext cx="2575289" cy="36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27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MYSQL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788419" y="3041781"/>
            <a:ext cx="3011986" cy="36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27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JAVASCRIPT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3770097" y="4812249"/>
            <a:ext cx="3011986" cy="36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27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RAILWAY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3893319" y="6738535"/>
            <a:ext cx="3011986" cy="36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27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JAVA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2788419" y="8471850"/>
            <a:ext cx="3011986" cy="36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270" b="1">
                <a:solidFill>
                  <a:srgbClr val="FBFCFC"/>
                </a:solidFill>
                <a:latin typeface="Gotham Bold"/>
                <a:ea typeface="Gotham Bold"/>
                <a:cs typeface="Gotham Bold"/>
                <a:sym typeface="Gotham Bold"/>
              </a:rPr>
              <a:t>DBEAVER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5712" y="111817"/>
            <a:ext cx="16894872" cy="11007667"/>
          </a:xfrm>
          <a:custGeom>
            <a:avLst/>
            <a:gdLst/>
            <a:ahLst/>
            <a:cxnLst/>
            <a:rect l="l" t="t" r="r" b="b"/>
            <a:pathLst>
              <a:path w="16894872" h="11007667">
                <a:moveTo>
                  <a:pt x="0" y="0"/>
                </a:moveTo>
                <a:lnTo>
                  <a:pt x="16894872" y="0"/>
                </a:lnTo>
                <a:lnTo>
                  <a:pt x="16894872" y="11007667"/>
                </a:lnTo>
                <a:lnTo>
                  <a:pt x="0" y="11007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21" r="-2269" b="-2321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2721" y="0"/>
            <a:ext cx="3318637" cy="1028700"/>
          </a:xfrm>
          <a:custGeom>
            <a:avLst/>
            <a:gdLst/>
            <a:ahLst/>
            <a:cxnLst/>
            <a:rect l="l" t="t" r="r" b="b"/>
            <a:pathLst>
              <a:path w="3318637" h="1028700">
                <a:moveTo>
                  <a:pt x="0" y="0"/>
                </a:moveTo>
                <a:lnTo>
                  <a:pt x="3318637" y="0"/>
                </a:lnTo>
                <a:lnTo>
                  <a:pt x="331863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8000"/>
            </a:blip>
            <a:stretch>
              <a:fillRect t="-3607" b="-406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3275916" y="518729"/>
            <a:ext cx="12123396" cy="106080"/>
          </a:xfrm>
          <a:custGeom>
            <a:avLst/>
            <a:gdLst/>
            <a:ahLst/>
            <a:cxnLst/>
            <a:rect l="l" t="t" r="r" b="b"/>
            <a:pathLst>
              <a:path w="12123396" h="106080">
                <a:moveTo>
                  <a:pt x="0" y="0"/>
                </a:moveTo>
                <a:lnTo>
                  <a:pt x="12123396" y="0"/>
                </a:lnTo>
                <a:lnTo>
                  <a:pt x="12123396" y="106079"/>
                </a:lnTo>
                <a:lnTo>
                  <a:pt x="0" y="106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6771699" y="1249336"/>
            <a:ext cx="4744603" cy="1600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30"/>
              </a:lnSpc>
              <a:spcBef>
                <a:spcPct val="0"/>
              </a:spcBef>
            </a:pPr>
            <a:r>
              <a:rPr lang="en-US" sz="3819" b="1">
                <a:solidFill>
                  <a:srgbClr val="059640"/>
                </a:solidFill>
                <a:latin typeface="Gotham Bold"/>
                <a:ea typeface="Gotham Bold"/>
                <a:cs typeface="Gotham Bold"/>
                <a:sym typeface="Gotham Bold"/>
              </a:rPr>
              <a:t>DEMO </a:t>
            </a:r>
            <a:r>
              <a:rPr lang="en-US" sz="3819" b="1">
                <a:solidFill>
                  <a:srgbClr val="332B22"/>
                </a:solidFill>
                <a:latin typeface="Gotham Bold"/>
                <a:ea typeface="Gotham Bold"/>
                <a:cs typeface="Gotham Bold"/>
                <a:sym typeface="Gotham Bold"/>
              </a:rPr>
              <a:t>Presentación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67588" y="3999210"/>
            <a:ext cx="2776612" cy="538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u="sng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frontend-servigo.vercel.app"/>
              </a:rPr>
              <a:t>Link a Demo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2721" y="0"/>
            <a:ext cx="3318637" cy="1028700"/>
          </a:xfrm>
          <a:custGeom>
            <a:avLst/>
            <a:gdLst/>
            <a:ahLst/>
            <a:cxnLst/>
            <a:rect l="l" t="t" r="r" b="b"/>
            <a:pathLst>
              <a:path w="3318637" h="1028700">
                <a:moveTo>
                  <a:pt x="0" y="0"/>
                </a:moveTo>
                <a:lnTo>
                  <a:pt x="3318637" y="0"/>
                </a:lnTo>
                <a:lnTo>
                  <a:pt x="331863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8000"/>
            </a:blip>
            <a:stretch>
              <a:fillRect t="-3607" b="-406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3275916" y="518729"/>
            <a:ext cx="12123396" cy="106080"/>
          </a:xfrm>
          <a:custGeom>
            <a:avLst/>
            <a:gdLst/>
            <a:ahLst/>
            <a:cxnLst/>
            <a:rect l="l" t="t" r="r" b="b"/>
            <a:pathLst>
              <a:path w="12123396" h="106080">
                <a:moveTo>
                  <a:pt x="0" y="0"/>
                </a:moveTo>
                <a:lnTo>
                  <a:pt x="12123396" y="0"/>
                </a:lnTo>
                <a:lnTo>
                  <a:pt x="12123396" y="106079"/>
                </a:lnTo>
                <a:lnTo>
                  <a:pt x="0" y="106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2516031" y="1067592"/>
            <a:ext cx="12510392" cy="793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01"/>
              </a:lnSpc>
              <a:spcBef>
                <a:spcPct val="0"/>
              </a:spcBef>
            </a:pPr>
            <a:r>
              <a:rPr lang="en-US" sz="3919" b="1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Resultados Obtenidos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2238144"/>
            <a:ext cx="16620470" cy="6350461"/>
            <a:chOff x="0" y="0"/>
            <a:chExt cx="5334441" cy="20382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34441" cy="2038219"/>
            </a:xfrm>
            <a:custGeom>
              <a:avLst/>
              <a:gdLst/>
              <a:ahLst/>
              <a:cxnLst/>
              <a:rect l="l" t="t" r="r" b="b"/>
              <a:pathLst>
                <a:path w="5334441" h="2038219">
                  <a:moveTo>
                    <a:pt x="13508" y="0"/>
                  </a:moveTo>
                  <a:lnTo>
                    <a:pt x="5320932" y="0"/>
                  </a:lnTo>
                  <a:cubicBezTo>
                    <a:pt x="5324515" y="0"/>
                    <a:pt x="5327951" y="1423"/>
                    <a:pt x="5330484" y="3957"/>
                  </a:cubicBezTo>
                  <a:cubicBezTo>
                    <a:pt x="5333018" y="6490"/>
                    <a:pt x="5334441" y="9926"/>
                    <a:pt x="5334441" y="13508"/>
                  </a:cubicBezTo>
                  <a:lnTo>
                    <a:pt x="5334441" y="2024711"/>
                  </a:lnTo>
                  <a:cubicBezTo>
                    <a:pt x="5334441" y="2032171"/>
                    <a:pt x="5328393" y="2038219"/>
                    <a:pt x="5320932" y="2038219"/>
                  </a:cubicBezTo>
                  <a:lnTo>
                    <a:pt x="13508" y="2038219"/>
                  </a:lnTo>
                  <a:cubicBezTo>
                    <a:pt x="6048" y="2038219"/>
                    <a:pt x="0" y="2032171"/>
                    <a:pt x="0" y="2024711"/>
                  </a:cubicBezTo>
                  <a:lnTo>
                    <a:pt x="0" y="13508"/>
                  </a:lnTo>
                  <a:cubicBezTo>
                    <a:pt x="0" y="6048"/>
                    <a:pt x="6048" y="0"/>
                    <a:pt x="13508" y="0"/>
                  </a:cubicBezTo>
                  <a:close/>
                </a:path>
              </a:pathLst>
            </a:custGeom>
            <a:solidFill>
              <a:srgbClr val="EAEBE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5334441" cy="21620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22314" y="2760775"/>
            <a:ext cx="16230600" cy="3800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Bef>
                <a:spcPct val="0"/>
              </a:spcBef>
            </a:pPr>
            <a:r>
              <a:rPr lang="en-US" sz="2602" b="1" spc="78">
                <a:solidFill>
                  <a:srgbClr val="3EB788"/>
                </a:solidFill>
                <a:latin typeface="Gotham Bold"/>
                <a:ea typeface="Gotham Bold"/>
                <a:cs typeface="Gotham Bold"/>
                <a:sym typeface="Gotham Bold"/>
              </a:rPr>
              <a:t>Despliegue Exitoso en la Nube:</a:t>
            </a:r>
            <a:r>
              <a:rPr lang="en-US" sz="2602" spc="78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Plataforma web 100% operativa, con arquitectura distribuida entre Vercel y Render/Railway.</a:t>
            </a:r>
          </a:p>
          <a:p>
            <a:pPr algn="l">
              <a:lnSpc>
                <a:spcPts val="3800"/>
              </a:lnSpc>
              <a:spcBef>
                <a:spcPct val="0"/>
              </a:spcBef>
            </a:pPr>
            <a:endParaRPr lang="en-US" sz="2602" spc="78">
              <a:solidFill>
                <a:srgbClr val="00000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3800"/>
              </a:lnSpc>
              <a:spcBef>
                <a:spcPct val="0"/>
              </a:spcBef>
            </a:pPr>
            <a:r>
              <a:rPr lang="en-US" sz="2602" b="1" spc="78">
                <a:solidFill>
                  <a:srgbClr val="3EB788"/>
                </a:solidFill>
                <a:latin typeface="Gotham Bold"/>
                <a:ea typeface="Gotham Bold"/>
                <a:cs typeface="Gotham Bold"/>
                <a:sym typeface="Gotham Bold"/>
              </a:rPr>
              <a:t>Seguridad Biométrica:</a:t>
            </a:r>
            <a:r>
              <a:rPr lang="en-US" sz="2602" spc="78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Integración exitosa de Inteligencia Artificial (OpenCV) para la validación de identidad en tiempo real.</a:t>
            </a:r>
          </a:p>
          <a:p>
            <a:pPr algn="l">
              <a:lnSpc>
                <a:spcPts val="3800"/>
              </a:lnSpc>
              <a:spcBef>
                <a:spcPct val="0"/>
              </a:spcBef>
            </a:pPr>
            <a:endParaRPr lang="en-US" sz="2602" spc="78">
              <a:solidFill>
                <a:srgbClr val="00000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3800"/>
              </a:lnSpc>
              <a:spcBef>
                <a:spcPct val="0"/>
              </a:spcBef>
            </a:pPr>
            <a:r>
              <a:rPr lang="en-US" sz="2602" b="1" spc="78">
                <a:solidFill>
                  <a:srgbClr val="3EB788"/>
                </a:solidFill>
                <a:latin typeface="Gotham Bold"/>
                <a:ea typeface="Gotham Bold"/>
                <a:cs typeface="Gotham Bold"/>
                <a:sym typeface="Gotham Bold"/>
              </a:rPr>
              <a:t>Cumplimiento del Objetivo:</a:t>
            </a:r>
            <a:r>
              <a:rPr lang="en-US" sz="2602" spc="78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Se construyó un Marketplace funcional que reduce la incertidumbre y brinda confianza a clientes y prestadores.</a:t>
            </a:r>
          </a:p>
        </p:txBody>
      </p:sp>
      <p:sp>
        <p:nvSpPr>
          <p:cNvPr id="9" name="Freeform 9"/>
          <p:cNvSpPr/>
          <p:nvPr/>
        </p:nvSpPr>
        <p:spPr>
          <a:xfrm>
            <a:off x="16527025" y="739355"/>
            <a:ext cx="1122144" cy="1122144"/>
          </a:xfrm>
          <a:custGeom>
            <a:avLst/>
            <a:gdLst/>
            <a:ahLst/>
            <a:cxnLst/>
            <a:rect l="l" t="t" r="r" b="b"/>
            <a:pathLst>
              <a:path w="1122144" h="1122144">
                <a:moveTo>
                  <a:pt x="0" y="0"/>
                </a:moveTo>
                <a:lnTo>
                  <a:pt x="1122145" y="0"/>
                </a:lnTo>
                <a:lnTo>
                  <a:pt x="1122145" y="1122144"/>
                </a:lnTo>
                <a:lnTo>
                  <a:pt x="0" y="11221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2721" y="0"/>
            <a:ext cx="3318637" cy="1028700"/>
          </a:xfrm>
          <a:custGeom>
            <a:avLst/>
            <a:gdLst/>
            <a:ahLst/>
            <a:cxnLst/>
            <a:rect l="l" t="t" r="r" b="b"/>
            <a:pathLst>
              <a:path w="3318637" h="1028700">
                <a:moveTo>
                  <a:pt x="0" y="0"/>
                </a:moveTo>
                <a:lnTo>
                  <a:pt x="3318637" y="0"/>
                </a:lnTo>
                <a:lnTo>
                  <a:pt x="331863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8000"/>
            </a:blip>
            <a:stretch>
              <a:fillRect t="-3607" b="-406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3275916" y="518729"/>
            <a:ext cx="12123396" cy="106080"/>
          </a:xfrm>
          <a:custGeom>
            <a:avLst/>
            <a:gdLst/>
            <a:ahLst/>
            <a:cxnLst/>
            <a:rect l="l" t="t" r="r" b="b"/>
            <a:pathLst>
              <a:path w="12123396" h="106080">
                <a:moveTo>
                  <a:pt x="0" y="0"/>
                </a:moveTo>
                <a:lnTo>
                  <a:pt x="12123396" y="0"/>
                </a:lnTo>
                <a:lnTo>
                  <a:pt x="12123396" y="106079"/>
                </a:lnTo>
                <a:lnTo>
                  <a:pt x="0" y="106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3712281" y="1211226"/>
            <a:ext cx="8067666" cy="698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8"/>
              </a:lnSpc>
              <a:spcBef>
                <a:spcPct val="0"/>
              </a:spcBef>
            </a:pPr>
            <a:r>
              <a:rPr lang="en-US" sz="3951" b="1" spc="118">
                <a:solidFill>
                  <a:srgbClr val="3EB788"/>
                </a:solidFill>
                <a:latin typeface="Gotham Bold"/>
                <a:ea typeface="Gotham Bold"/>
                <a:cs typeface="Gotham Bold"/>
                <a:sym typeface="Gotham Bold"/>
              </a:rPr>
              <a:t>Obstáculos presentados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77719" y="2930407"/>
            <a:ext cx="15474287" cy="6892862"/>
            <a:chOff x="0" y="0"/>
            <a:chExt cx="4075532" cy="18154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75532" cy="1815404"/>
            </a:xfrm>
            <a:custGeom>
              <a:avLst/>
              <a:gdLst/>
              <a:ahLst/>
              <a:cxnLst/>
              <a:rect l="l" t="t" r="r" b="b"/>
              <a:pathLst>
                <a:path w="4075532" h="1815404">
                  <a:moveTo>
                    <a:pt x="0" y="0"/>
                  </a:moveTo>
                  <a:lnTo>
                    <a:pt x="4075532" y="0"/>
                  </a:lnTo>
                  <a:lnTo>
                    <a:pt x="4075532" y="1815404"/>
                  </a:lnTo>
                  <a:lnTo>
                    <a:pt x="0" y="1815404"/>
                  </a:lnTo>
                  <a:close/>
                </a:path>
              </a:pathLst>
            </a:custGeom>
            <a:solidFill>
              <a:srgbClr val="56B48C">
                <a:alpha val="13725"/>
              </a:srgbClr>
            </a:solidFill>
            <a:ln w="28575" cap="sq">
              <a:solidFill>
                <a:srgbClr val="EAEBEE">
                  <a:alpha val="1372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075532" cy="18630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4765" y="3202839"/>
            <a:ext cx="6344410" cy="765634"/>
            <a:chOff x="0" y="0"/>
            <a:chExt cx="1670956" cy="2016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70956" cy="201648"/>
            </a:xfrm>
            <a:custGeom>
              <a:avLst/>
              <a:gdLst/>
              <a:ahLst/>
              <a:cxnLst/>
              <a:rect l="l" t="t" r="r" b="b"/>
              <a:pathLst>
                <a:path w="1670956" h="201648">
                  <a:moveTo>
                    <a:pt x="32947" y="0"/>
                  </a:moveTo>
                  <a:lnTo>
                    <a:pt x="1638008" y="0"/>
                  </a:lnTo>
                  <a:cubicBezTo>
                    <a:pt x="1656205" y="0"/>
                    <a:pt x="1670956" y="14751"/>
                    <a:pt x="1670956" y="32947"/>
                  </a:cubicBezTo>
                  <a:lnTo>
                    <a:pt x="1670956" y="168701"/>
                  </a:lnTo>
                  <a:cubicBezTo>
                    <a:pt x="1670956" y="186897"/>
                    <a:pt x="1656205" y="201648"/>
                    <a:pt x="1638008" y="201648"/>
                  </a:cubicBezTo>
                  <a:lnTo>
                    <a:pt x="32947" y="201648"/>
                  </a:lnTo>
                  <a:cubicBezTo>
                    <a:pt x="14751" y="201648"/>
                    <a:pt x="0" y="186897"/>
                    <a:pt x="0" y="168701"/>
                  </a:cubicBezTo>
                  <a:lnTo>
                    <a:pt x="0" y="32947"/>
                  </a:lnTo>
                  <a:cubicBezTo>
                    <a:pt x="0" y="14751"/>
                    <a:pt x="14751" y="0"/>
                    <a:pt x="32947" y="0"/>
                  </a:cubicBezTo>
                  <a:close/>
                </a:path>
              </a:pathLst>
            </a:custGeom>
            <a:solidFill>
              <a:srgbClr val="56B48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670956" cy="239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21416" y="3395496"/>
            <a:ext cx="6344410" cy="39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spcBef>
                <a:spcPct val="0"/>
              </a:spcBef>
            </a:pPr>
            <a:r>
              <a:rPr lang="en-US" sz="2251" b="1" spc="67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Optimización de la Iluminación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2706" y="4206597"/>
            <a:ext cx="14996563" cy="5013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6"/>
              </a:lnSpc>
            </a:pPr>
            <a:r>
              <a:rPr lang="en-US" sz="2533" b="1">
                <a:solidFill>
                  <a:srgbClr val="3EB788"/>
                </a:solidFill>
                <a:latin typeface="Gotham Bold"/>
                <a:ea typeface="Gotham Bold"/>
                <a:cs typeface="Gotham Bold"/>
                <a:sym typeface="Gotham Bold"/>
              </a:rPr>
              <a:t>Obstáculo:</a:t>
            </a:r>
            <a:r>
              <a:rPr lang="en-US" sz="2533">
                <a:solidFill>
                  <a:srgbClr val="3EB788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533">
                <a:solidFill>
                  <a:srgbClr val="231F20"/>
                </a:solidFill>
                <a:latin typeface="Gotham"/>
                <a:ea typeface="Gotham"/>
                <a:cs typeface="Gotham"/>
                <a:sym typeface="Gotham"/>
              </a:rPr>
              <a:t>La validación biométrica presentaba resultados variables dependiendo de las condiciones de iluminación. En ambientes con poca luz, el rostro no se detectaba correctamente, mientras que una iluminación excesiva generaba sobreexposición y pérdida de características faciales, provocando validaciones fallidas</a:t>
            </a:r>
            <a:r>
              <a:rPr lang="en-US" sz="2533">
                <a:solidFill>
                  <a:srgbClr val="332C2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algn="ctr">
              <a:lnSpc>
                <a:spcPts val="3546"/>
              </a:lnSpc>
            </a:pPr>
            <a:endParaRPr lang="en-US" sz="2533">
              <a:solidFill>
                <a:srgbClr val="332C2B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just">
              <a:lnSpc>
                <a:spcPts val="3546"/>
              </a:lnSpc>
            </a:pPr>
            <a:r>
              <a:rPr lang="en-US" sz="2533" b="1">
                <a:solidFill>
                  <a:srgbClr val="3EB788"/>
                </a:solidFill>
                <a:latin typeface="Gotham Bold"/>
                <a:ea typeface="Gotham Bold"/>
                <a:cs typeface="Gotham Bold"/>
                <a:sym typeface="Gotham Bold"/>
              </a:rPr>
              <a:t>Resolución:</a:t>
            </a:r>
            <a:r>
              <a:rPr lang="en-US" sz="2533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533">
                <a:solidFill>
                  <a:srgbClr val="231F20"/>
                </a:solidFill>
                <a:latin typeface="Gotham"/>
                <a:ea typeface="Gotham"/>
                <a:cs typeface="Gotham"/>
                <a:sym typeface="Gotham"/>
              </a:rPr>
              <a:t>Se ajustaron los umbrales de luminosidad utilizados durante la captura y validación de las imágenes. Además, se realizaron pruebas presenciales en distintas ubicaciones y condiciones de luz dentro de DUOC UC, modificando progresivamente los porcentajes permitidos hasta obtener un equilibrio que permitiera reconocer el rostro tanto en ambientes claros como poco iluminados.</a:t>
            </a:r>
          </a:p>
          <a:p>
            <a:pPr algn="ctr">
              <a:lnSpc>
                <a:spcPts val="4454"/>
              </a:lnSpc>
            </a:pPr>
            <a:endParaRPr lang="en-US" sz="2533">
              <a:solidFill>
                <a:srgbClr val="231F2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6707" y="-297999"/>
            <a:ext cx="3307479" cy="10584999"/>
            <a:chOff x="0" y="0"/>
            <a:chExt cx="871106" cy="27878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1106" cy="2787819"/>
            </a:xfrm>
            <a:custGeom>
              <a:avLst/>
              <a:gdLst/>
              <a:ahLst/>
              <a:cxnLst/>
              <a:rect l="l" t="t" r="r" b="b"/>
              <a:pathLst>
                <a:path w="871106" h="2787819">
                  <a:moveTo>
                    <a:pt x="0" y="0"/>
                  </a:moveTo>
                  <a:lnTo>
                    <a:pt x="871106" y="0"/>
                  </a:lnTo>
                  <a:lnTo>
                    <a:pt x="871106" y="2787819"/>
                  </a:lnTo>
                  <a:lnTo>
                    <a:pt x="0" y="2787819"/>
                  </a:lnTo>
                  <a:close/>
                </a:path>
              </a:pathLst>
            </a:custGeom>
            <a:solidFill>
              <a:srgbClr val="E7E9E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871106" cy="2902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300607" y="3527406"/>
            <a:ext cx="1673745" cy="5271399"/>
            <a:chOff x="0" y="0"/>
            <a:chExt cx="440822" cy="13883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0822" cy="1388352"/>
            </a:xfrm>
            <a:custGeom>
              <a:avLst/>
              <a:gdLst/>
              <a:ahLst/>
              <a:cxnLst/>
              <a:rect l="l" t="t" r="r" b="b"/>
              <a:pathLst>
                <a:path w="440822" h="1388352">
                  <a:moveTo>
                    <a:pt x="124889" y="0"/>
                  </a:moveTo>
                  <a:lnTo>
                    <a:pt x="315933" y="0"/>
                  </a:lnTo>
                  <a:cubicBezTo>
                    <a:pt x="384907" y="0"/>
                    <a:pt x="440822" y="55915"/>
                    <a:pt x="440822" y="124889"/>
                  </a:cubicBezTo>
                  <a:lnTo>
                    <a:pt x="440822" y="1263463"/>
                  </a:lnTo>
                  <a:cubicBezTo>
                    <a:pt x="440822" y="1332437"/>
                    <a:pt x="384907" y="1388352"/>
                    <a:pt x="315933" y="1388352"/>
                  </a:cubicBezTo>
                  <a:lnTo>
                    <a:pt x="124889" y="1388352"/>
                  </a:lnTo>
                  <a:cubicBezTo>
                    <a:pt x="55915" y="1388352"/>
                    <a:pt x="0" y="1332437"/>
                    <a:pt x="0" y="1263463"/>
                  </a:cubicBezTo>
                  <a:lnTo>
                    <a:pt x="0" y="124889"/>
                  </a:lnTo>
                  <a:cubicBezTo>
                    <a:pt x="0" y="55915"/>
                    <a:pt x="55915" y="0"/>
                    <a:pt x="124889" y="0"/>
                  </a:cubicBezTo>
                  <a:close/>
                </a:path>
              </a:pathLst>
            </a:custGeom>
            <a:solidFill>
              <a:srgbClr val="56B48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40822" cy="1426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3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716095" y="3931345"/>
            <a:ext cx="842767" cy="877882"/>
          </a:xfrm>
          <a:custGeom>
            <a:avLst/>
            <a:gdLst/>
            <a:ahLst/>
            <a:cxnLst/>
            <a:rect l="l" t="t" r="r" b="b"/>
            <a:pathLst>
              <a:path w="842767" h="877882">
                <a:moveTo>
                  <a:pt x="0" y="0"/>
                </a:moveTo>
                <a:lnTo>
                  <a:pt x="842767" y="0"/>
                </a:lnTo>
                <a:lnTo>
                  <a:pt x="842767" y="877882"/>
                </a:lnTo>
                <a:lnTo>
                  <a:pt x="0" y="877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2694511" y="7338411"/>
            <a:ext cx="885936" cy="877882"/>
          </a:xfrm>
          <a:custGeom>
            <a:avLst/>
            <a:gdLst/>
            <a:ahLst/>
            <a:cxnLst/>
            <a:rect l="l" t="t" r="r" b="b"/>
            <a:pathLst>
              <a:path w="885936" h="877882">
                <a:moveTo>
                  <a:pt x="0" y="0"/>
                </a:moveTo>
                <a:lnTo>
                  <a:pt x="885936" y="0"/>
                </a:lnTo>
                <a:lnTo>
                  <a:pt x="885936" y="877882"/>
                </a:lnTo>
                <a:lnTo>
                  <a:pt x="0" y="877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2716095" y="5724164"/>
            <a:ext cx="885936" cy="877882"/>
          </a:xfrm>
          <a:custGeom>
            <a:avLst/>
            <a:gdLst/>
            <a:ahLst/>
            <a:cxnLst/>
            <a:rect l="l" t="t" r="r" b="b"/>
            <a:pathLst>
              <a:path w="885936" h="877882">
                <a:moveTo>
                  <a:pt x="0" y="0"/>
                </a:moveTo>
                <a:lnTo>
                  <a:pt x="885937" y="0"/>
                </a:lnTo>
                <a:lnTo>
                  <a:pt x="885937" y="877883"/>
                </a:lnTo>
                <a:lnTo>
                  <a:pt x="0" y="8778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3558862" y="1697860"/>
            <a:ext cx="4191738" cy="1124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49"/>
              </a:lnSpc>
              <a:spcBef>
                <a:spcPct val="0"/>
              </a:spcBef>
            </a:pPr>
            <a:r>
              <a:rPr lang="en-US" sz="5584" b="1" u="none" strike="noStrike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Conclusión </a:t>
            </a:r>
          </a:p>
        </p:txBody>
      </p:sp>
      <p:sp>
        <p:nvSpPr>
          <p:cNvPr id="12" name="Freeform 12"/>
          <p:cNvSpPr/>
          <p:nvPr/>
        </p:nvSpPr>
        <p:spPr>
          <a:xfrm>
            <a:off x="-42721" y="0"/>
            <a:ext cx="3318637" cy="1028700"/>
          </a:xfrm>
          <a:custGeom>
            <a:avLst/>
            <a:gdLst/>
            <a:ahLst/>
            <a:cxnLst/>
            <a:rect l="l" t="t" r="r" b="b"/>
            <a:pathLst>
              <a:path w="3318637" h="1028700">
                <a:moveTo>
                  <a:pt x="0" y="0"/>
                </a:moveTo>
                <a:lnTo>
                  <a:pt x="3318637" y="0"/>
                </a:lnTo>
                <a:lnTo>
                  <a:pt x="331863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8000"/>
            </a:blip>
            <a:stretch>
              <a:fillRect t="-3607" b="-406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3275916" y="518729"/>
            <a:ext cx="12123396" cy="106080"/>
          </a:xfrm>
          <a:custGeom>
            <a:avLst/>
            <a:gdLst/>
            <a:ahLst/>
            <a:cxnLst/>
            <a:rect l="l" t="t" r="r" b="b"/>
            <a:pathLst>
              <a:path w="12123396" h="106080">
                <a:moveTo>
                  <a:pt x="0" y="0"/>
                </a:moveTo>
                <a:lnTo>
                  <a:pt x="12123396" y="0"/>
                </a:lnTo>
                <a:lnTo>
                  <a:pt x="12123396" y="106079"/>
                </a:lnTo>
                <a:lnTo>
                  <a:pt x="0" y="106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11664428" y="-696403"/>
            <a:ext cx="6543951" cy="6507596"/>
          </a:xfrm>
          <a:custGeom>
            <a:avLst/>
            <a:gdLst/>
            <a:ahLst/>
            <a:cxnLst/>
            <a:rect l="l" t="t" r="r" b="b"/>
            <a:pathLst>
              <a:path w="6543951" h="6507596">
                <a:moveTo>
                  <a:pt x="0" y="0"/>
                </a:moveTo>
                <a:lnTo>
                  <a:pt x="6543951" y="0"/>
                </a:lnTo>
                <a:lnTo>
                  <a:pt x="6543951" y="6507596"/>
                </a:lnTo>
                <a:lnTo>
                  <a:pt x="0" y="65075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5304618" y="3166274"/>
            <a:ext cx="774178" cy="774178"/>
          </a:xfrm>
          <a:custGeom>
            <a:avLst/>
            <a:gdLst/>
            <a:ahLst/>
            <a:cxnLst/>
            <a:rect l="l" t="t" r="r" b="b"/>
            <a:pathLst>
              <a:path w="774178" h="774178">
                <a:moveTo>
                  <a:pt x="0" y="0"/>
                </a:moveTo>
                <a:lnTo>
                  <a:pt x="774179" y="0"/>
                </a:lnTo>
                <a:lnTo>
                  <a:pt x="774179" y="774178"/>
                </a:lnTo>
                <a:lnTo>
                  <a:pt x="0" y="7741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>
            <a:off x="5318140" y="4532816"/>
            <a:ext cx="786633" cy="786633"/>
          </a:xfrm>
          <a:custGeom>
            <a:avLst/>
            <a:gdLst/>
            <a:ahLst/>
            <a:cxnLst/>
            <a:rect l="l" t="t" r="r" b="b"/>
            <a:pathLst>
              <a:path w="786633" h="786633">
                <a:moveTo>
                  <a:pt x="0" y="0"/>
                </a:moveTo>
                <a:lnTo>
                  <a:pt x="786633" y="0"/>
                </a:lnTo>
                <a:lnTo>
                  <a:pt x="786633" y="786633"/>
                </a:lnTo>
                <a:lnTo>
                  <a:pt x="0" y="7866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Freeform 17"/>
          <p:cNvSpPr/>
          <p:nvPr/>
        </p:nvSpPr>
        <p:spPr>
          <a:xfrm>
            <a:off x="5348921" y="5909999"/>
            <a:ext cx="787700" cy="787700"/>
          </a:xfrm>
          <a:custGeom>
            <a:avLst/>
            <a:gdLst/>
            <a:ahLst/>
            <a:cxnLst/>
            <a:rect l="l" t="t" r="r" b="b"/>
            <a:pathLst>
              <a:path w="787700" h="787700">
                <a:moveTo>
                  <a:pt x="0" y="0"/>
                </a:moveTo>
                <a:lnTo>
                  <a:pt x="787700" y="0"/>
                </a:lnTo>
                <a:lnTo>
                  <a:pt x="787700" y="787700"/>
                </a:lnTo>
                <a:lnTo>
                  <a:pt x="0" y="787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18"/>
          <p:cNvSpPr/>
          <p:nvPr/>
        </p:nvSpPr>
        <p:spPr>
          <a:xfrm>
            <a:off x="5348921" y="7288249"/>
            <a:ext cx="787700" cy="787700"/>
          </a:xfrm>
          <a:custGeom>
            <a:avLst/>
            <a:gdLst/>
            <a:ahLst/>
            <a:cxnLst/>
            <a:rect l="l" t="t" r="r" b="b"/>
            <a:pathLst>
              <a:path w="787700" h="787700">
                <a:moveTo>
                  <a:pt x="0" y="0"/>
                </a:moveTo>
                <a:lnTo>
                  <a:pt x="787700" y="0"/>
                </a:lnTo>
                <a:lnTo>
                  <a:pt x="787700" y="787700"/>
                </a:lnTo>
                <a:lnTo>
                  <a:pt x="0" y="787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9" name="Freeform 19"/>
          <p:cNvSpPr/>
          <p:nvPr/>
        </p:nvSpPr>
        <p:spPr>
          <a:xfrm>
            <a:off x="5348921" y="8666499"/>
            <a:ext cx="818481" cy="818481"/>
          </a:xfrm>
          <a:custGeom>
            <a:avLst/>
            <a:gdLst/>
            <a:ahLst/>
            <a:cxnLst/>
            <a:rect l="l" t="t" r="r" b="b"/>
            <a:pathLst>
              <a:path w="818481" h="818481">
                <a:moveTo>
                  <a:pt x="0" y="0"/>
                </a:moveTo>
                <a:lnTo>
                  <a:pt x="818481" y="0"/>
                </a:lnTo>
                <a:lnTo>
                  <a:pt x="818481" y="818481"/>
                </a:lnTo>
                <a:lnTo>
                  <a:pt x="0" y="818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20" name="Group 20"/>
          <p:cNvGrpSpPr/>
          <p:nvPr/>
        </p:nvGrpSpPr>
        <p:grpSpPr>
          <a:xfrm>
            <a:off x="6167402" y="3166274"/>
            <a:ext cx="7508915" cy="887406"/>
            <a:chOff x="0" y="0"/>
            <a:chExt cx="1977657" cy="2337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77657" cy="233720"/>
            </a:xfrm>
            <a:custGeom>
              <a:avLst/>
              <a:gdLst/>
              <a:ahLst/>
              <a:cxnLst/>
              <a:rect l="l" t="t" r="r" b="b"/>
              <a:pathLst>
                <a:path w="1977657" h="233720">
                  <a:moveTo>
                    <a:pt x="0" y="0"/>
                  </a:moveTo>
                  <a:lnTo>
                    <a:pt x="1977657" y="0"/>
                  </a:lnTo>
                  <a:lnTo>
                    <a:pt x="1977657" y="233720"/>
                  </a:lnTo>
                  <a:lnTo>
                    <a:pt x="0" y="233720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EAEBEE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977657" cy="28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57"/>
                </a:lnSpc>
              </a:pPr>
              <a:r>
                <a:rPr lang="en-US" sz="1751" b="1" spc="52">
                  <a:solidFill>
                    <a:srgbClr val="00000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ServiGO</a:t>
              </a:r>
              <a:r>
                <a:rPr lang="en-US" sz="1751" spc="52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 permite </a:t>
              </a:r>
              <a:r>
                <a:rPr lang="en-US" sz="1751" b="1" spc="52">
                  <a:solidFill>
                    <a:srgbClr val="05964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conectar clientes y prestadores</a:t>
              </a:r>
              <a:r>
                <a:rPr lang="en-US" sz="1751" spc="52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 de servicios mediante una </a:t>
              </a:r>
              <a:r>
                <a:rPr lang="en-US" sz="1751" b="1" spc="52">
                  <a:solidFill>
                    <a:srgbClr val="05964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plataforma digital centralizada</a:t>
              </a:r>
              <a:r>
                <a:rPr lang="en-US" sz="1751" spc="52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167402" y="4482429"/>
            <a:ext cx="7508915" cy="1126587"/>
            <a:chOff x="0" y="0"/>
            <a:chExt cx="1977657" cy="29671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77657" cy="296714"/>
            </a:xfrm>
            <a:custGeom>
              <a:avLst/>
              <a:gdLst/>
              <a:ahLst/>
              <a:cxnLst/>
              <a:rect l="l" t="t" r="r" b="b"/>
              <a:pathLst>
                <a:path w="1977657" h="296714">
                  <a:moveTo>
                    <a:pt x="0" y="0"/>
                  </a:moveTo>
                  <a:lnTo>
                    <a:pt x="1977657" y="0"/>
                  </a:lnTo>
                  <a:lnTo>
                    <a:pt x="1977657" y="296714"/>
                  </a:lnTo>
                  <a:lnTo>
                    <a:pt x="0" y="296714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EAEBEE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977657" cy="344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57"/>
                </a:lnSpc>
              </a:pPr>
              <a:r>
                <a:rPr lang="en-US" sz="1751" spc="52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Se desarrolló una </a:t>
              </a:r>
              <a:r>
                <a:rPr lang="en-US" sz="1751" b="1" spc="52">
                  <a:solidFill>
                    <a:srgbClr val="05964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arquitectura moderna y escalable</a:t>
              </a:r>
              <a:r>
                <a:rPr lang="en-US" sz="1751" spc="52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, utilizando </a:t>
              </a:r>
              <a:r>
                <a:rPr lang="en-US" sz="1751" b="1" spc="52">
                  <a:solidFill>
                    <a:srgbClr val="05964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React para el frontend, Spring Boot para el backend y MySQL</a:t>
              </a:r>
              <a:r>
                <a:rPr lang="en-US" sz="1751" spc="52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 para la gestión de datos.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167402" y="5909999"/>
            <a:ext cx="7508915" cy="887406"/>
            <a:chOff x="0" y="0"/>
            <a:chExt cx="1977657" cy="2337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977657" cy="233720"/>
            </a:xfrm>
            <a:custGeom>
              <a:avLst/>
              <a:gdLst/>
              <a:ahLst/>
              <a:cxnLst/>
              <a:rect l="l" t="t" r="r" b="b"/>
              <a:pathLst>
                <a:path w="1977657" h="233720">
                  <a:moveTo>
                    <a:pt x="0" y="0"/>
                  </a:moveTo>
                  <a:lnTo>
                    <a:pt x="1977657" y="0"/>
                  </a:lnTo>
                  <a:lnTo>
                    <a:pt x="1977657" y="233720"/>
                  </a:lnTo>
                  <a:lnTo>
                    <a:pt x="0" y="233720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EAEBEE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1977657" cy="28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57"/>
                </a:lnSpc>
              </a:pPr>
              <a:r>
                <a:rPr lang="en-US" sz="1751" spc="52" dirty="0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Se </a:t>
              </a:r>
              <a:r>
                <a:rPr lang="en-US" sz="1751" spc="52" dirty="0" err="1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implementaron</a:t>
              </a:r>
              <a:r>
                <a:rPr lang="en-US" sz="1751" spc="52" dirty="0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 </a:t>
              </a:r>
              <a:r>
                <a:rPr lang="en-US" sz="1751" b="1" spc="52" dirty="0" err="1">
                  <a:solidFill>
                    <a:srgbClr val="05964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funcionalidades</a:t>
              </a:r>
              <a:r>
                <a:rPr lang="en-US" sz="1751" b="1" spc="52" dirty="0">
                  <a:solidFill>
                    <a:srgbClr val="05964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 </a:t>
              </a:r>
              <a:r>
                <a:rPr lang="en-US" sz="1751" b="1" spc="52" dirty="0" err="1">
                  <a:solidFill>
                    <a:srgbClr val="05964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orientadas</a:t>
              </a:r>
              <a:r>
                <a:rPr lang="en-US" sz="1751" b="1" spc="52" dirty="0">
                  <a:solidFill>
                    <a:srgbClr val="05964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 a </a:t>
              </a:r>
              <a:r>
                <a:rPr lang="en-US" sz="1751" b="1" spc="52" dirty="0" err="1">
                  <a:solidFill>
                    <a:srgbClr val="05964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mejorar</a:t>
              </a:r>
              <a:r>
                <a:rPr lang="en-US" sz="1751" b="1" spc="52" dirty="0">
                  <a:solidFill>
                    <a:srgbClr val="05964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 la confianza y </a:t>
              </a:r>
              <a:r>
                <a:rPr lang="en-US" sz="1751" b="1" spc="52" dirty="0" err="1">
                  <a:solidFill>
                    <a:srgbClr val="05964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seguridad</a:t>
              </a:r>
              <a:r>
                <a:rPr lang="en-US" sz="1751" spc="52" dirty="0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 de </a:t>
              </a:r>
              <a:r>
                <a:rPr lang="en-US" sz="1751" spc="52" dirty="0" err="1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los</a:t>
              </a:r>
              <a:r>
                <a:rPr lang="en-US" sz="1751" spc="52" dirty="0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 </a:t>
              </a:r>
              <a:r>
                <a:rPr lang="en-US" sz="1751" spc="52" dirty="0" err="1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usuarios</a:t>
              </a:r>
              <a:r>
                <a:rPr lang="en-US" sz="1751" spc="52" dirty="0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. 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167402" y="7340329"/>
            <a:ext cx="7508915" cy="887406"/>
            <a:chOff x="0" y="0"/>
            <a:chExt cx="1977657" cy="2337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977657" cy="233720"/>
            </a:xfrm>
            <a:custGeom>
              <a:avLst/>
              <a:gdLst/>
              <a:ahLst/>
              <a:cxnLst/>
              <a:rect l="l" t="t" r="r" b="b"/>
              <a:pathLst>
                <a:path w="1977657" h="233720">
                  <a:moveTo>
                    <a:pt x="0" y="0"/>
                  </a:moveTo>
                  <a:lnTo>
                    <a:pt x="1977657" y="0"/>
                  </a:lnTo>
                  <a:lnTo>
                    <a:pt x="1977657" y="233720"/>
                  </a:lnTo>
                  <a:lnTo>
                    <a:pt x="0" y="233720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EAEBEE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977657" cy="28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57"/>
                </a:lnSpc>
              </a:pPr>
              <a:r>
                <a:rPr lang="en-US" sz="1751" spc="52" dirty="0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Las </a:t>
              </a:r>
              <a:r>
                <a:rPr lang="en-US" sz="1751" spc="52" dirty="0" err="1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pruebas</a:t>
              </a:r>
              <a:r>
                <a:rPr lang="en-US" sz="1751" spc="52" dirty="0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 </a:t>
              </a:r>
              <a:r>
                <a:rPr lang="en-US" sz="1751" spc="52" dirty="0" err="1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realizadas</a:t>
              </a:r>
              <a:r>
                <a:rPr lang="en-US" sz="1751" spc="52" dirty="0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 </a:t>
              </a:r>
              <a:r>
                <a:rPr lang="en-US" sz="1751" spc="52" dirty="0" err="1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demuestran</a:t>
              </a:r>
              <a:r>
                <a:rPr lang="en-US" sz="1751" spc="52" dirty="0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 un </a:t>
              </a:r>
              <a:r>
                <a:rPr lang="en-US" sz="1751" b="1" spc="52" dirty="0">
                  <a:solidFill>
                    <a:srgbClr val="05964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alto </a:t>
              </a:r>
              <a:r>
                <a:rPr lang="en-US" sz="1751" b="1" spc="52" dirty="0" err="1">
                  <a:solidFill>
                    <a:srgbClr val="05964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grado</a:t>
              </a:r>
              <a:r>
                <a:rPr lang="en-US" sz="1751" b="1" spc="52" dirty="0">
                  <a:solidFill>
                    <a:srgbClr val="05964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 de </a:t>
              </a:r>
              <a:r>
                <a:rPr lang="en-US" sz="1751" b="1" spc="52" dirty="0" err="1">
                  <a:solidFill>
                    <a:srgbClr val="05964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operatividad</a:t>
              </a:r>
              <a:r>
                <a:rPr lang="en-US" sz="1751" b="1" spc="52" dirty="0">
                  <a:solidFill>
                    <a:srgbClr val="05964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 </a:t>
              </a:r>
              <a:r>
                <a:rPr lang="en-US" sz="1751" spc="52" dirty="0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del Sistema.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167402" y="8770660"/>
            <a:ext cx="7508915" cy="887406"/>
            <a:chOff x="0" y="0"/>
            <a:chExt cx="1977657" cy="2337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977657" cy="233720"/>
            </a:xfrm>
            <a:custGeom>
              <a:avLst/>
              <a:gdLst/>
              <a:ahLst/>
              <a:cxnLst/>
              <a:rect l="l" t="t" r="r" b="b"/>
              <a:pathLst>
                <a:path w="1977657" h="233720">
                  <a:moveTo>
                    <a:pt x="0" y="0"/>
                  </a:moveTo>
                  <a:lnTo>
                    <a:pt x="1977657" y="0"/>
                  </a:lnTo>
                  <a:lnTo>
                    <a:pt x="1977657" y="233720"/>
                  </a:lnTo>
                  <a:lnTo>
                    <a:pt x="0" y="233720"/>
                  </a:lnTo>
                  <a:close/>
                </a:path>
              </a:pathLst>
            </a:custGeom>
            <a:solidFill>
              <a:srgbClr val="FBFCFC"/>
            </a:solidFill>
            <a:ln w="28575" cap="sq">
              <a:solidFill>
                <a:srgbClr val="EAEBEE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1977657" cy="281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57"/>
                </a:lnSpc>
              </a:pPr>
              <a:r>
                <a:rPr lang="en-US" sz="1751" spc="52" dirty="0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El </a:t>
              </a:r>
              <a:r>
                <a:rPr lang="en-US" sz="1751" spc="52" dirty="0" err="1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proyecto</a:t>
              </a:r>
              <a:r>
                <a:rPr lang="en-US" sz="1751" spc="52" dirty="0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 continua </a:t>
              </a:r>
              <a:r>
                <a:rPr lang="en-US" sz="1751" b="1" spc="52" dirty="0" err="1">
                  <a:solidFill>
                    <a:srgbClr val="05964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evolucionando</a:t>
              </a:r>
              <a:r>
                <a:rPr lang="en-US" sz="1751" spc="52" dirty="0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 con </a:t>
              </a:r>
              <a:r>
                <a:rPr lang="en-US" sz="1751" spc="52" dirty="0" err="1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nuevas</a:t>
              </a:r>
              <a:r>
                <a:rPr lang="en-US" sz="1751" spc="52" dirty="0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 </a:t>
              </a:r>
              <a:r>
                <a:rPr lang="en-US" sz="1751" spc="52" dirty="0" err="1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funcionalidades</a:t>
              </a:r>
              <a:r>
                <a:rPr lang="en-US" sz="1751" spc="52" dirty="0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 y </a:t>
              </a:r>
              <a:r>
                <a:rPr lang="en-US" sz="1751" spc="52" dirty="0" err="1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mejoras</a:t>
              </a:r>
              <a:r>
                <a:rPr lang="en-US" sz="1751" spc="52" dirty="0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2721" y="0"/>
            <a:ext cx="3318637" cy="1028700"/>
          </a:xfrm>
          <a:custGeom>
            <a:avLst/>
            <a:gdLst/>
            <a:ahLst/>
            <a:cxnLst/>
            <a:rect l="l" t="t" r="r" b="b"/>
            <a:pathLst>
              <a:path w="3318637" h="1028700">
                <a:moveTo>
                  <a:pt x="0" y="0"/>
                </a:moveTo>
                <a:lnTo>
                  <a:pt x="3318637" y="0"/>
                </a:lnTo>
                <a:lnTo>
                  <a:pt x="3318637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8000"/>
            </a:blip>
            <a:stretch>
              <a:fillRect t="-3607" b="-406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3275916" y="518729"/>
            <a:ext cx="12123396" cy="106080"/>
          </a:xfrm>
          <a:custGeom>
            <a:avLst/>
            <a:gdLst/>
            <a:ahLst/>
            <a:cxnLst/>
            <a:rect l="l" t="t" r="r" b="b"/>
            <a:pathLst>
              <a:path w="12123396" h="106080">
                <a:moveTo>
                  <a:pt x="0" y="0"/>
                </a:moveTo>
                <a:lnTo>
                  <a:pt x="12123396" y="0"/>
                </a:lnTo>
                <a:lnTo>
                  <a:pt x="12123396" y="106079"/>
                </a:lnTo>
                <a:lnTo>
                  <a:pt x="0" y="106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6731477" y="3204754"/>
            <a:ext cx="5192177" cy="4114800"/>
          </a:xfrm>
          <a:custGeom>
            <a:avLst/>
            <a:gdLst/>
            <a:ahLst/>
            <a:cxnLst/>
            <a:rect l="l" t="t" r="r" b="b"/>
            <a:pathLst>
              <a:path w="5192177" h="4114800">
                <a:moveTo>
                  <a:pt x="0" y="0"/>
                </a:moveTo>
                <a:lnTo>
                  <a:pt x="5192177" y="0"/>
                </a:lnTo>
                <a:lnTo>
                  <a:pt x="5192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6729698" y="1297271"/>
            <a:ext cx="4744603" cy="793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01"/>
              </a:lnSpc>
              <a:spcBef>
                <a:spcPct val="0"/>
              </a:spcBef>
            </a:pPr>
            <a:r>
              <a:rPr lang="en-US" sz="3919" b="1">
                <a:solidFill>
                  <a:srgbClr val="56B48C"/>
                </a:solidFill>
                <a:latin typeface="Gotham Bold"/>
                <a:ea typeface="Gotham Bold"/>
                <a:cs typeface="Gotham Bold"/>
                <a:sym typeface="Gotham Bold"/>
              </a:rPr>
              <a:t>Pregu</a:t>
            </a:r>
            <a:r>
              <a:rPr lang="en-US" sz="3919" b="1">
                <a:solidFill>
                  <a:srgbClr val="474747"/>
                </a:solidFill>
                <a:latin typeface="Gotham Bold"/>
                <a:ea typeface="Gotham Bold"/>
                <a:cs typeface="Gotham Bold"/>
                <a:sym typeface="Gotham Bold"/>
              </a:rPr>
              <a:t>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919</Words>
  <Application>Microsoft Office PowerPoint</Application>
  <PresentationFormat>Personalizado</PresentationFormat>
  <Paragraphs>150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Arimo</vt:lpstr>
      <vt:lpstr>Gotham</vt:lpstr>
      <vt:lpstr>Gotham Bold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PesentacionServiGo</dc:title>
  <cp:lastModifiedBy>Hola Si</cp:lastModifiedBy>
  <cp:revision>2</cp:revision>
  <dcterms:created xsi:type="dcterms:W3CDTF">2006-08-16T00:00:00Z</dcterms:created>
  <dcterms:modified xsi:type="dcterms:W3CDTF">2026-07-10T22:12:20Z</dcterms:modified>
  <dc:identifier>DAHLATIuHH8</dc:identifier>
</cp:coreProperties>
</file>